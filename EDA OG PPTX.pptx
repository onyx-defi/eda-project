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embeddedFontLst>
    <p:embeddedFont>
      <p:font typeface="Bricolage Grotesque ExtraBold"/>
      <p:regular r:id="rId201314"/>
    </p:embeddedFont>
    <p:embeddedFont>
      <p:font typeface="Montserrat"/>
      <p:regular r:id="rId201315"/>
    </p:embeddedFont>
    <p:embeddedFont>
      <p:font typeface="Montserrat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82D5E"/>
          </a:solidFill>
          <a:ln/>
        </p:spPr>
      </p:sp>
      <p:sp>
        <p:nvSpPr>
          <p:cNvPr id="3" name="Shape 1"/>
          <p:cNvSpPr/>
          <p:nvPr/>
        </p:nvSpPr>
        <p:spPr>
          <a:xfrm>
            <a:off x="0" y="0"/>
            <a:ext cx="9144000" cy="51435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slideLayout" Target="../slideLayouts/slideLayout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43550" y="0"/>
            <a:ext cx="3600450" cy="5143500"/>
          </a:xfrm>
          <a:prstGeom prst="rect">
            <a:avLst/>
          </a:prstGeom>
        </p:spPr>
      </p:pic>
      <p:sp>
        <p:nvSpPr>
          <p:cNvPr id="3" name="Shape 0"/>
          <p:cNvSpPr/>
          <p:nvPr/>
        </p:nvSpPr>
        <p:spPr>
          <a:xfrm>
            <a:off x="496119" y="1652067"/>
            <a:ext cx="1712863" cy="233214"/>
          </a:xfrm>
          <a:prstGeom prst="roundRect">
            <a:avLst>
              <a:gd name="adj" fmla="val 17872"/>
            </a:avLst>
          </a:prstGeom>
          <a:solidFill>
            <a:srgbClr val="3E0845"/>
          </a:solidFill>
          <a:ln/>
        </p:spPr>
      </p:sp>
      <p:sp>
        <p:nvSpPr>
          <p:cNvPr id="4" name="Text 1"/>
          <p:cNvSpPr/>
          <p:nvPr/>
        </p:nvSpPr>
        <p:spPr>
          <a:xfrm>
            <a:off x="570533" y="1689274"/>
            <a:ext cx="2021235" cy="158800"/>
          </a:xfrm>
          <a:prstGeom prst="rect">
            <a:avLst/>
          </a:prstGeom>
          <a:noFill/>
          <a:ln/>
        </p:spPr>
        <p:txBody>
          <a:bodyPr wrap="none" lIns="0" tIns="0" rIns="0" bIns="0" rtlCol="0" anchor="t"/>
          <a:lstStyle/>
          <a:p>
            <a:pPr algn="l" indent="0" marL="0">
              <a:lnSpc>
                <a:spcPct val="133000"/>
              </a:lnSpc>
              <a:buNone/>
            </a:pPr>
            <a:r>
              <a:rPr lang="en-US" sz="750" dirty="0">
                <a:solidFill>
                  <a:srgbClr val="E5DCE6"/>
                </a:solidFill>
                <a:latin typeface="Montserrat" pitchFamily="34" charset="0"/>
                <a:ea typeface="Montserrat" pitchFamily="34" charset="-122"/>
                <a:cs typeface="Montserrat" pitchFamily="34" charset="-120"/>
              </a:rPr>
              <a:t>EXPLORATORY DATA ANALYSIS</a:t>
            </a:r>
            <a:endParaRPr lang="en-US" sz="750" dirty="0"/>
          </a:p>
        </p:txBody>
      </p:sp>
      <p:sp>
        <p:nvSpPr>
          <p:cNvPr id="5" name="Text 2"/>
          <p:cNvSpPr/>
          <p:nvPr/>
        </p:nvSpPr>
        <p:spPr>
          <a:xfrm>
            <a:off x="496119" y="1934840"/>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Loan Risk EDA: Project Goals &amp; Business Objectives</a:t>
            </a:r>
            <a:endParaRPr lang="en-US" sz="2400" dirty="0"/>
          </a:p>
        </p:txBody>
      </p:sp>
      <p:sp>
        <p:nvSpPr>
          <p:cNvPr id="6" name="Text 3"/>
          <p:cNvSpPr/>
          <p:nvPr/>
        </p:nvSpPr>
        <p:spPr>
          <a:xfrm>
            <a:off x="496119" y="2895972"/>
            <a:ext cx="4722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This analysis examines 614 loan applications to transform underwriting from reactive manual review into proactive, data-driven risk modeling. Three interconnected goals guide this investigation.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1087264"/>
            <a:ext cx="1440061" cy="242739"/>
          </a:xfrm>
          <a:prstGeom prst="roundRect">
            <a:avLst>
              <a:gd name="adj" fmla="val 17171"/>
            </a:avLst>
          </a:prstGeom>
          <a:noFill/>
          <a:ln w="4763">
            <a:solidFill>
              <a:srgbClr val="EEAEF6"/>
            </a:solidFill>
            <a:prstDash val="solid"/>
          </a:ln>
        </p:spPr>
      </p:sp>
      <p:sp>
        <p:nvSpPr>
          <p:cNvPr id="3" name="Text 1"/>
          <p:cNvSpPr/>
          <p:nvPr/>
        </p:nvSpPr>
        <p:spPr>
          <a:xfrm>
            <a:off x="575295" y="1129233"/>
            <a:ext cx="1738908" cy="158800"/>
          </a:xfrm>
          <a:prstGeom prst="rect">
            <a:avLst/>
          </a:prstGeom>
          <a:noFill/>
          <a:ln/>
        </p:spPr>
        <p:txBody>
          <a:bodyPr wrap="none" lIns="0" tIns="0" rIns="0" bIns="0" rtlCol="0" anchor="t"/>
          <a:lstStyle/>
          <a:p>
            <a:pPr algn="l" indent="0" marL="0">
              <a:lnSpc>
                <a:spcPct val="133000"/>
              </a:lnSpc>
              <a:buNone/>
            </a:pPr>
            <a:r>
              <a:rPr lang="en-US" sz="750" dirty="0">
                <a:solidFill>
                  <a:srgbClr val="EEAEF6"/>
                </a:solidFill>
                <a:latin typeface="Montserrat" pitchFamily="34" charset="0"/>
                <a:ea typeface="Montserrat" pitchFamily="34" charset="-122"/>
                <a:cs typeface="Montserrat" pitchFamily="34" charset="-120"/>
              </a:rPr>
              <a:t>STRATEGIC FRAMEWORK</a:t>
            </a:r>
            <a:endParaRPr lang="en-US" sz="750" dirty="0"/>
          </a:p>
        </p:txBody>
      </p:sp>
      <p:sp>
        <p:nvSpPr>
          <p:cNvPr id="4" name="Text 2"/>
          <p:cNvSpPr/>
          <p:nvPr/>
        </p:nvSpPr>
        <p:spPr>
          <a:xfrm>
            <a:off x="496119" y="1379562"/>
            <a:ext cx="4673426" cy="387548"/>
          </a:xfrm>
          <a:prstGeom prst="rect">
            <a:avLst/>
          </a:prstGeom>
          <a:noFill/>
          <a:ln/>
        </p:spPr>
        <p:txBody>
          <a:bodyPr wrap="none" lIns="0" tIns="0" rIns="0" bIns="0" rtlCol="0" anchor="t"/>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Three Core Analytical Goals</a:t>
            </a:r>
            <a:endParaRPr lang="en-US"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953146"/>
            <a:ext cx="2634555" cy="2103016"/>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0379" y="2060377"/>
            <a:ext cx="186035" cy="186035"/>
          </a:xfrm>
          <a:prstGeom prst="rect">
            <a:avLst/>
          </a:prstGeom>
        </p:spPr>
      </p:pic>
      <p:sp>
        <p:nvSpPr>
          <p:cNvPr id="7" name="Text 3"/>
          <p:cNvSpPr/>
          <p:nvPr/>
        </p:nvSpPr>
        <p:spPr>
          <a:xfrm>
            <a:off x="634380" y="2463478"/>
            <a:ext cx="235803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Establish a Data-Driven Diagnostic Framework</a:t>
            </a:r>
            <a:endParaRPr lang="en-US" sz="1200" dirty="0"/>
          </a:p>
        </p:txBody>
      </p:sp>
      <p:sp>
        <p:nvSpPr>
          <p:cNvPr id="8" name="Text 4"/>
          <p:cNvSpPr/>
          <p:nvPr/>
        </p:nvSpPr>
        <p:spPr>
          <a:xfrm>
            <a:off x="634380" y="2925589"/>
            <a:ext cx="235803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Move from manual, reactive underwriting to proactive risk modeling by understanding how applicant attributes interact to influence loan outcomes.</a:t>
            </a:r>
            <a:endParaRPr lang="en-US" sz="9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54648" y="1953146"/>
            <a:ext cx="2634630" cy="2103016"/>
          </a:xfrm>
          <a:prstGeom prst="rect">
            <a:avLst/>
          </a:prstGeom>
        </p:spPr>
      </p:pic>
      <p:pic>
        <p:nvPicPr>
          <p:cNvPr id="1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78908" y="2060377"/>
            <a:ext cx="186035" cy="186035"/>
          </a:xfrm>
          <a:prstGeom prst="rect">
            <a:avLst/>
          </a:prstGeom>
        </p:spPr>
      </p:pic>
      <p:sp>
        <p:nvSpPr>
          <p:cNvPr id="11" name="Text 5"/>
          <p:cNvSpPr/>
          <p:nvPr/>
        </p:nvSpPr>
        <p:spPr>
          <a:xfrm>
            <a:off x="3392909" y="2463478"/>
            <a:ext cx="2358107"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Assess Data Integrity &amp; Distribution Anomalies</a:t>
            </a:r>
            <a:endParaRPr lang="en-US" sz="1200" dirty="0"/>
          </a:p>
        </p:txBody>
      </p:sp>
      <p:sp>
        <p:nvSpPr>
          <p:cNvPr id="12" name="Text 6"/>
          <p:cNvSpPr/>
          <p:nvPr/>
        </p:nvSpPr>
        <p:spPr>
          <a:xfrm>
            <a:off x="3392909" y="2925589"/>
            <a:ext cx="2358107"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Inspect the 614 training applications for missing variables, extreme wealth outliers, and severe demographic imbalances before running downstream algorithms.</a:t>
            </a:r>
            <a:endParaRPr lang="en-US" sz="950" dirty="0"/>
          </a:p>
        </p:txBody>
      </p:sp>
      <p:pic>
        <p:nvPicPr>
          <p:cNvPr id="1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13252" y="1953146"/>
            <a:ext cx="2634555" cy="2103016"/>
          </a:xfrm>
          <a:prstGeom prst="rect">
            <a:avLst/>
          </a:prstGeom>
        </p:spPr>
      </p:pic>
      <p:pic>
        <p:nvPicPr>
          <p:cNvPr id="1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7512" y="2060377"/>
            <a:ext cx="186035" cy="186035"/>
          </a:xfrm>
          <a:prstGeom prst="rect">
            <a:avLst/>
          </a:prstGeom>
        </p:spPr>
      </p:pic>
      <p:sp>
        <p:nvSpPr>
          <p:cNvPr id="15" name="Text 7"/>
          <p:cNvSpPr/>
          <p:nvPr/>
        </p:nvSpPr>
        <p:spPr>
          <a:xfrm>
            <a:off x="6151513" y="2463478"/>
            <a:ext cx="235803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Identify the Ultimate Drivers of Credit Risk</a:t>
            </a:r>
            <a:endParaRPr lang="en-US" sz="1200" dirty="0"/>
          </a:p>
        </p:txBody>
      </p:sp>
      <p:sp>
        <p:nvSpPr>
          <p:cNvPr id="16" name="Text 8"/>
          <p:cNvSpPr/>
          <p:nvPr/>
        </p:nvSpPr>
        <p:spPr>
          <a:xfrm>
            <a:off x="6151513" y="2925589"/>
            <a:ext cx="235803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Mathematically isolate which factors — such as raw income versus past repayment compliance — are statistically correlated with credit approval.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386209"/>
            <a:ext cx="863203" cy="195635"/>
          </a:xfrm>
          <a:prstGeom prst="roundRect">
            <a:avLst>
              <a:gd name="adj" fmla="val 17976"/>
            </a:avLst>
          </a:prstGeom>
          <a:noFill/>
          <a:ln w="4763">
            <a:solidFill>
              <a:srgbClr val="EEAEF6"/>
            </a:solidFill>
            <a:prstDash val="solid"/>
          </a:ln>
        </p:spPr>
      </p:sp>
      <p:sp>
        <p:nvSpPr>
          <p:cNvPr id="3" name="Text 1"/>
          <p:cNvSpPr/>
          <p:nvPr/>
        </p:nvSpPr>
        <p:spPr>
          <a:xfrm>
            <a:off x="563612" y="422300"/>
            <a:ext cx="1185416" cy="123453"/>
          </a:xfrm>
          <a:prstGeom prst="rect">
            <a:avLst/>
          </a:prstGeom>
          <a:noFill/>
          <a:ln/>
        </p:spPr>
        <p:txBody>
          <a:bodyPr wrap="none" lIns="0" tIns="0" rIns="0" bIns="0" rtlCol="0" anchor="t"/>
          <a:lstStyle/>
          <a:p>
            <a:pPr algn="l" indent="0" marL="0">
              <a:lnSpc>
                <a:spcPct val="123000"/>
              </a:lnSpc>
              <a:buNone/>
            </a:pPr>
            <a:r>
              <a:rPr lang="en-US" sz="650" dirty="0">
                <a:solidFill>
                  <a:srgbClr val="EEAEF6"/>
                </a:solidFill>
                <a:latin typeface="Montserrat" pitchFamily="34" charset="0"/>
                <a:ea typeface="Montserrat" pitchFamily="34" charset="-122"/>
                <a:cs typeface="Montserrat" pitchFamily="34" charset="-120"/>
              </a:rPr>
              <a:t>DATA PROFILING</a:t>
            </a:r>
            <a:endParaRPr lang="en-US" sz="650" dirty="0"/>
          </a:p>
        </p:txBody>
      </p:sp>
      <p:sp>
        <p:nvSpPr>
          <p:cNvPr id="4" name="Text 2"/>
          <p:cNvSpPr/>
          <p:nvPr/>
        </p:nvSpPr>
        <p:spPr>
          <a:xfrm>
            <a:off x="496119" y="617116"/>
            <a:ext cx="5041702" cy="327050"/>
          </a:xfrm>
          <a:prstGeom prst="rect">
            <a:avLst/>
          </a:prstGeom>
          <a:noFill/>
          <a:ln/>
        </p:spPr>
        <p:txBody>
          <a:bodyPr wrap="none" lIns="0" tIns="0" rIns="0" bIns="0" rtlCol="0" anchor="t"/>
          <a:lstStyle/>
          <a:p>
            <a:pPr algn="l" indent="0" marL="0">
              <a:lnSpc>
                <a:spcPct val="104000"/>
              </a:lnSpc>
              <a:buNone/>
            </a:pPr>
            <a:r>
              <a:rPr lang="en-US" sz="2050" dirty="0">
                <a:solidFill>
                  <a:srgbClr val="EEAEF6"/>
                </a:solidFill>
                <a:latin typeface="Bricolage Grotesque ExtraBold" pitchFamily="34" charset="0"/>
                <a:ea typeface="Bricolage Grotesque ExtraBold" pitchFamily="34" charset="-122"/>
                <a:cs typeface="Bricolage Grotesque ExtraBold" pitchFamily="34" charset="-120"/>
              </a:rPr>
              <a:t>Data Profiling &amp; Structural Integrity</a:t>
            </a:r>
            <a:endParaRPr lang="en-US" sz="2050" dirty="0"/>
          </a:p>
        </p:txBody>
      </p:sp>
      <p:sp>
        <p:nvSpPr>
          <p:cNvPr id="5" name="Shape 3"/>
          <p:cNvSpPr/>
          <p:nvPr/>
        </p:nvSpPr>
        <p:spPr>
          <a:xfrm>
            <a:off x="420812" y="1076623"/>
            <a:ext cx="4098875" cy="3680668"/>
          </a:xfrm>
          <a:prstGeom prst="roundRect">
            <a:avLst>
              <a:gd name="adj" fmla="val 2047"/>
            </a:avLst>
          </a:prstGeom>
          <a:solidFill>
            <a:srgbClr val="EEAEF6"/>
          </a:solidFill>
          <a:ln/>
        </p:spPr>
      </p:sp>
      <p:sp>
        <p:nvSpPr>
          <p:cNvPr id="6" name="Text 4"/>
          <p:cNvSpPr/>
          <p:nvPr/>
        </p:nvSpPr>
        <p:spPr>
          <a:xfrm>
            <a:off x="525438" y="1164878"/>
            <a:ext cx="1765474" cy="163488"/>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Bricolage Grotesque ExtraBold" pitchFamily="34" charset="0"/>
                <a:ea typeface="Bricolage Grotesque ExtraBold" pitchFamily="34" charset="-122"/>
                <a:cs typeface="Bricolage Grotesque ExtraBold" pitchFamily="34" charset="-120"/>
              </a:rPr>
              <a:t>Initial Footprint</a:t>
            </a:r>
            <a:endParaRPr lang="en-US" sz="1000" dirty="0"/>
          </a:p>
        </p:txBody>
      </p:sp>
      <p:sp>
        <p:nvSpPr>
          <p:cNvPr id="7" name="Text 5"/>
          <p:cNvSpPr/>
          <p:nvPr/>
        </p:nvSpPr>
        <p:spPr>
          <a:xfrm>
            <a:off x="525438" y="1416621"/>
            <a:ext cx="3889623" cy="46322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The training dataset contains exactly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614 records</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across 13 columns. Zero duplicate rows were found, confirming the structural integrity of all application records.</a:t>
            </a:r>
            <a:endParaRPr lang="en-US" sz="800" dirty="0"/>
          </a:p>
        </p:txBody>
      </p:sp>
      <p:sp>
        <p:nvSpPr>
          <p:cNvPr id="8" name="Text 6"/>
          <p:cNvSpPr/>
          <p:nvPr/>
        </p:nvSpPr>
        <p:spPr>
          <a:xfrm>
            <a:off x="525438" y="1968103"/>
            <a:ext cx="1873076" cy="163488"/>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Bricolage Grotesque ExtraBold" pitchFamily="34" charset="0"/>
                <a:ea typeface="Bricolage Grotesque ExtraBold" pitchFamily="34" charset="-122"/>
                <a:cs typeface="Bricolage Grotesque ExtraBold" pitchFamily="34" charset="-120"/>
              </a:rPr>
              <a:t>Missing Data Warning</a:t>
            </a:r>
            <a:endParaRPr lang="en-US" sz="1000" dirty="0"/>
          </a:p>
        </p:txBody>
      </p:sp>
      <p:sp>
        <p:nvSpPr>
          <p:cNvPr id="9" name="Text 7"/>
          <p:cNvSpPr/>
          <p:nvPr/>
        </p:nvSpPr>
        <p:spPr>
          <a:xfrm>
            <a:off x="525438" y="2219846"/>
            <a:ext cx="3889623" cy="46322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Several columns require treatment before modeling. Missing records are concentrated in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Credit_History (50 missing)</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Self_Employed (32 missing)</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and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LoanAmount (22 missing)</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a:t>
            </a:r>
            <a:endParaRPr lang="en-US" sz="800" dirty="0"/>
          </a:p>
        </p:txBody>
      </p:sp>
      <p:sp>
        <p:nvSpPr>
          <p:cNvPr id="10" name="Text 8"/>
          <p:cNvSpPr/>
          <p:nvPr/>
        </p:nvSpPr>
        <p:spPr>
          <a:xfrm>
            <a:off x="4704383" y="1164878"/>
            <a:ext cx="2146622" cy="163488"/>
          </a:xfrm>
          <a:prstGeom prst="rect">
            <a:avLst/>
          </a:prstGeom>
          <a:noFill/>
          <a:ln/>
        </p:spPr>
        <p:txBody>
          <a:bodyPr wrap="none" lIns="0" tIns="0" rIns="0" bIns="0" rtlCol="0" anchor="t"/>
          <a:lstStyle/>
          <a:p>
            <a:pPr algn="l" indent="0" marL="0">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Missing Values by Column</a:t>
            </a:r>
            <a:endParaRPr lang="en-US" sz="1000" dirty="0"/>
          </a:p>
        </p:txBody>
      </p:sp>
      <p:pic>
        <p:nvPicPr>
          <p:cNvPr id="11" name="Image 0" descr="preencoded.png">    </p:cNvPr>
          <p:cNvPicPr>
            <a:picLocks noChangeAspect="1"/>
          </p:cNvPicPr>
          <p:nvPr/>
        </p:nvPicPr>
        <p:blipFill>
          <a:blip r:embed="rId1"/>
          <a:stretch>
            <a:fillRect/>
          </a:stretch>
        </p:blipFill>
        <p:spPr>
          <a:xfrm>
            <a:off x="4704383" y="1427708"/>
            <a:ext cx="3948261" cy="2841947"/>
          </a:xfrm>
          <a:prstGeom prst="rect">
            <a:avLst/>
          </a:prstGeom>
        </p:spPr>
      </p:pic>
      <p:sp>
        <p:nvSpPr>
          <p:cNvPr id="12" name="Text 9"/>
          <p:cNvSpPr/>
          <p:nvPr/>
        </p:nvSpPr>
        <p:spPr>
          <a:xfrm>
            <a:off x="4704383" y="4368998"/>
            <a:ext cx="3948261"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E5DCE6"/>
                </a:solidFill>
                <a:latin typeface="Montserrat" pitchFamily="34" charset="0"/>
                <a:ea typeface="Montserrat" pitchFamily="34" charset="-122"/>
                <a:cs typeface="Montserrat" pitchFamily="34" charset="-120"/>
              </a:rPr>
              <a:t>Median imputation is recommended for numerical fields; mode imputation for categorical variables. This prevents data loss and downstream bias.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500807"/>
            <a:ext cx="1193899" cy="242739"/>
          </a:xfrm>
          <a:prstGeom prst="roundRect">
            <a:avLst>
              <a:gd name="adj" fmla="val 17171"/>
            </a:avLst>
          </a:prstGeom>
          <a:noFill/>
          <a:ln w="4763">
            <a:solidFill>
              <a:srgbClr val="EEAEF6"/>
            </a:solidFill>
            <a:prstDash val="solid"/>
          </a:ln>
        </p:spPr>
      </p:sp>
      <p:sp>
        <p:nvSpPr>
          <p:cNvPr id="3" name="Text 1"/>
          <p:cNvSpPr/>
          <p:nvPr/>
        </p:nvSpPr>
        <p:spPr>
          <a:xfrm>
            <a:off x="575295" y="542776"/>
            <a:ext cx="1492746" cy="158800"/>
          </a:xfrm>
          <a:prstGeom prst="rect">
            <a:avLst/>
          </a:prstGeom>
          <a:noFill/>
          <a:ln/>
        </p:spPr>
        <p:txBody>
          <a:bodyPr wrap="none" lIns="0" tIns="0" rIns="0" bIns="0" rtlCol="0" anchor="t"/>
          <a:lstStyle/>
          <a:p>
            <a:pPr algn="l" indent="0" marL="0">
              <a:lnSpc>
                <a:spcPct val="133000"/>
              </a:lnSpc>
              <a:buNone/>
            </a:pPr>
            <a:r>
              <a:rPr lang="en-US" sz="750" dirty="0">
                <a:solidFill>
                  <a:srgbClr val="EEAEF6"/>
                </a:solidFill>
                <a:latin typeface="Montserrat" pitchFamily="34" charset="0"/>
                <a:ea typeface="Montserrat" pitchFamily="34" charset="-122"/>
                <a:cs typeface="Montserrat" pitchFamily="34" charset="-120"/>
              </a:rPr>
              <a:t>DATA PREPARATION</a:t>
            </a:r>
            <a:endParaRPr lang="en-US" sz="750" dirty="0"/>
          </a:p>
        </p:txBody>
      </p:sp>
      <p:sp>
        <p:nvSpPr>
          <p:cNvPr id="4" name="Text 2"/>
          <p:cNvSpPr/>
          <p:nvPr/>
        </p:nvSpPr>
        <p:spPr>
          <a:xfrm>
            <a:off x="496119" y="793105"/>
            <a:ext cx="7179246" cy="387548"/>
          </a:xfrm>
          <a:prstGeom prst="rect">
            <a:avLst/>
          </a:prstGeom>
          <a:noFill/>
          <a:ln/>
        </p:spPr>
        <p:txBody>
          <a:bodyPr wrap="none" lIns="0" tIns="0" rIns="0" bIns="0" rtlCol="0" anchor="t"/>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Cleaning &amp; Preparing Loan Data for Analysis</a:t>
            </a:r>
            <a:endParaRPr lang="en-US" sz="2400" dirty="0"/>
          </a:p>
        </p:txBody>
      </p:sp>
      <p:sp>
        <p:nvSpPr>
          <p:cNvPr id="5" name="Text 3"/>
          <p:cNvSpPr/>
          <p:nvPr/>
        </p:nvSpPr>
        <p:spPr>
          <a:xfrm>
            <a:off x="496119" y="1366689"/>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Before diving into predictive modeling, a critical step involves refining the raw data. This process addresses structural imperfections to ensure the reliability and fairness of our insights.</a:t>
            </a:r>
            <a:endParaRPr lang="en-US" sz="950" dirty="0"/>
          </a:p>
        </p:txBody>
      </p:sp>
      <p:pic>
        <p:nvPicPr>
          <p:cNvPr id="6" name="Image 0" descr="preencoded.png">    </p:cNvPr>
          <p:cNvPicPr>
            <a:picLocks noChangeAspect="1"/>
          </p:cNvPicPr>
          <p:nvPr/>
        </p:nvPicPr>
        <p:blipFill>
          <a:blip r:embed="rId1"/>
          <a:stretch>
            <a:fillRect/>
          </a:stretch>
        </p:blipFill>
        <p:spPr>
          <a:xfrm>
            <a:off x="496119" y="1903140"/>
            <a:ext cx="2717229" cy="496119"/>
          </a:xfrm>
          <a:prstGeom prst="rect">
            <a:avLst/>
          </a:prstGeom>
        </p:spPr>
      </p:pic>
      <p:sp>
        <p:nvSpPr>
          <p:cNvPr id="7" name="Text 4"/>
          <p:cNvSpPr/>
          <p:nvPr/>
        </p:nvSpPr>
        <p:spPr>
          <a:xfrm>
            <a:off x="620092" y="2523232"/>
            <a:ext cx="2061121"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Addressing Missing Values</a:t>
            </a:r>
            <a:endParaRPr lang="en-US" sz="1200" dirty="0"/>
          </a:p>
        </p:txBody>
      </p:sp>
      <p:sp>
        <p:nvSpPr>
          <p:cNvPr id="8" name="Text 5"/>
          <p:cNvSpPr/>
          <p:nvPr/>
        </p:nvSpPr>
        <p:spPr>
          <a:xfrm>
            <a:off x="620092" y="2791495"/>
            <a:ext cx="2469282"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Identified </a:t>
            </a:r>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50 missing Credit_History</a:t>
            </a:r>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 records, </a:t>
            </a:r>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32 for Self_Employed</a:t>
            </a:r>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 and </a:t>
            </a:r>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22 for LoanAmount</a:t>
            </a:r>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 Imputation (median for numerical, mode for categorical) was applied to prevent data loss and bias.</a:t>
            </a:r>
            <a:endParaRPr lang="en-US" sz="950" dirty="0"/>
          </a:p>
        </p:txBody>
      </p:sp>
      <p:pic>
        <p:nvPicPr>
          <p:cNvPr id="9" name="Image 1" descr="preencoded.png">    </p:cNvPr>
          <p:cNvPicPr>
            <a:picLocks noChangeAspect="1"/>
          </p:cNvPicPr>
          <p:nvPr/>
        </p:nvPicPr>
        <p:blipFill>
          <a:blip r:embed="rId2"/>
          <a:stretch>
            <a:fillRect/>
          </a:stretch>
        </p:blipFill>
        <p:spPr>
          <a:xfrm>
            <a:off x="3213348" y="1903140"/>
            <a:ext cx="2717229" cy="496119"/>
          </a:xfrm>
          <a:prstGeom prst="rect">
            <a:avLst/>
          </a:prstGeom>
        </p:spPr>
      </p:pic>
      <p:sp>
        <p:nvSpPr>
          <p:cNvPr id="10" name="Text 6"/>
          <p:cNvSpPr/>
          <p:nvPr/>
        </p:nvSpPr>
        <p:spPr>
          <a:xfrm>
            <a:off x="3337322" y="2523232"/>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Managing Outliers</a:t>
            </a:r>
            <a:endParaRPr lang="en-US" sz="1200" dirty="0"/>
          </a:p>
        </p:txBody>
      </p:sp>
      <p:sp>
        <p:nvSpPr>
          <p:cNvPr id="11" name="Text 7"/>
          <p:cNvSpPr/>
          <p:nvPr/>
        </p:nvSpPr>
        <p:spPr>
          <a:xfrm>
            <a:off x="3337322" y="2791495"/>
            <a:ext cx="2469282"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Extreme income outliers were flagged and treated to avoid skewing statistical analyses and model training, ensuring the model reflects typical applicant behavior.</a:t>
            </a:r>
            <a:endParaRPr lang="en-US" sz="950" dirty="0"/>
          </a:p>
        </p:txBody>
      </p:sp>
      <p:pic>
        <p:nvPicPr>
          <p:cNvPr id="12" name="Image 2" descr="preencoded.png">    </p:cNvPr>
          <p:cNvPicPr>
            <a:picLocks noChangeAspect="1"/>
          </p:cNvPicPr>
          <p:nvPr/>
        </p:nvPicPr>
        <p:blipFill>
          <a:blip r:embed="rId3"/>
          <a:stretch>
            <a:fillRect/>
          </a:stretch>
        </p:blipFill>
        <p:spPr>
          <a:xfrm>
            <a:off x="5930578" y="1903140"/>
            <a:ext cx="2717229" cy="496119"/>
          </a:xfrm>
          <a:prstGeom prst="rect">
            <a:avLst/>
          </a:prstGeom>
        </p:spPr>
      </p:pic>
      <p:sp>
        <p:nvSpPr>
          <p:cNvPr id="13" name="Text 8"/>
          <p:cNvSpPr/>
          <p:nvPr/>
        </p:nvSpPr>
        <p:spPr>
          <a:xfrm>
            <a:off x="6054551" y="2523232"/>
            <a:ext cx="2114773"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Acknowledging Imbalances</a:t>
            </a:r>
            <a:endParaRPr lang="en-US" sz="1200" dirty="0"/>
          </a:p>
        </p:txBody>
      </p:sp>
      <p:sp>
        <p:nvSpPr>
          <p:cNvPr id="14" name="Text 9"/>
          <p:cNvSpPr/>
          <p:nvPr/>
        </p:nvSpPr>
        <p:spPr>
          <a:xfrm>
            <a:off x="6054551" y="2791495"/>
            <a:ext cx="2469282"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A severe </a:t>
            </a:r>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gender imbalance (81% male)</a:t>
            </a:r>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 was noted. While not directly 'cleaned,' this insight informs careful model development to prevent unintended bias and promote fair lending practices.</a:t>
            </a:r>
            <a:endParaRPr lang="en-US" sz="950" dirty="0"/>
          </a:p>
        </p:txBody>
      </p:sp>
      <p:sp>
        <p:nvSpPr>
          <p:cNvPr id="15" name="Text 10"/>
          <p:cNvSpPr/>
          <p:nvPr/>
        </p:nvSpPr>
        <p:spPr>
          <a:xfrm>
            <a:off x="496119" y="4245769"/>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These preparation steps are vital for building robust and equitable loan risk models, directly contributing to fair lending decisions and improved model reliability.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686321"/>
            <a:ext cx="1284833" cy="242739"/>
          </a:xfrm>
          <a:prstGeom prst="roundRect">
            <a:avLst>
              <a:gd name="adj" fmla="val 17171"/>
            </a:avLst>
          </a:prstGeom>
          <a:noFill/>
          <a:ln w="4763">
            <a:solidFill>
              <a:srgbClr val="EEAEF6"/>
            </a:solidFill>
            <a:prstDash val="solid"/>
          </a:ln>
        </p:spPr>
      </p:sp>
      <p:sp>
        <p:nvSpPr>
          <p:cNvPr id="3" name="Text 1"/>
          <p:cNvSpPr/>
          <p:nvPr/>
        </p:nvSpPr>
        <p:spPr>
          <a:xfrm>
            <a:off x="575295" y="728290"/>
            <a:ext cx="1583680" cy="158800"/>
          </a:xfrm>
          <a:prstGeom prst="rect">
            <a:avLst/>
          </a:prstGeom>
          <a:noFill/>
          <a:ln/>
        </p:spPr>
        <p:txBody>
          <a:bodyPr wrap="none" lIns="0" tIns="0" rIns="0" bIns="0" rtlCol="0" anchor="t"/>
          <a:lstStyle/>
          <a:p>
            <a:pPr algn="l" indent="0" marL="0">
              <a:lnSpc>
                <a:spcPct val="133000"/>
              </a:lnSpc>
              <a:buNone/>
            </a:pPr>
            <a:r>
              <a:rPr lang="en-US" sz="750" dirty="0">
                <a:solidFill>
                  <a:srgbClr val="EEAEF6"/>
                </a:solidFill>
                <a:latin typeface="Montserrat" pitchFamily="34" charset="0"/>
                <a:ea typeface="Montserrat" pitchFamily="34" charset="-122"/>
                <a:cs typeface="Montserrat" pitchFamily="34" charset="-120"/>
              </a:rPr>
              <a:t>STATISTICAL ANALYSIS</a:t>
            </a:r>
            <a:endParaRPr lang="en-US" sz="750" dirty="0"/>
          </a:p>
        </p:txBody>
      </p:sp>
      <p:sp>
        <p:nvSpPr>
          <p:cNvPr id="4" name="Text 2"/>
          <p:cNvSpPr/>
          <p:nvPr/>
        </p:nvSpPr>
        <p:spPr>
          <a:xfrm>
            <a:off x="496119" y="978619"/>
            <a:ext cx="7438132" cy="387548"/>
          </a:xfrm>
          <a:prstGeom prst="rect">
            <a:avLst/>
          </a:prstGeom>
          <a:noFill/>
          <a:ln/>
        </p:spPr>
        <p:txBody>
          <a:bodyPr wrap="none" lIns="0" tIns="0" rIns="0" bIns="0" rtlCol="0" anchor="t"/>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Continuous Metrics: The Skewness Distortion</a:t>
            </a:r>
            <a:endParaRPr lang="en-US" sz="2400" dirty="0"/>
          </a:p>
        </p:txBody>
      </p:sp>
      <p:sp>
        <p:nvSpPr>
          <p:cNvPr id="5" name="Text 3"/>
          <p:cNvSpPr/>
          <p:nvPr/>
        </p:nvSpPr>
        <p:spPr>
          <a:xfrm>
            <a:off x="496119" y="1676177"/>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EEAEF6"/>
                </a:solidFill>
                <a:latin typeface="Bricolage Grotesque ExtraBold" pitchFamily="34" charset="0"/>
                <a:ea typeface="Bricolage Grotesque ExtraBold" pitchFamily="34" charset="-122"/>
                <a:cs typeface="Bricolage Grotesque ExtraBold" pitchFamily="34" charset="-120"/>
              </a:rPr>
              <a:t>Summary Statistics</a:t>
            </a:r>
            <a:endParaRPr lang="en-US" sz="1200" dirty="0"/>
          </a:p>
        </p:txBody>
      </p:sp>
      <p:sp>
        <p:nvSpPr>
          <p:cNvPr id="6" name="Shape 4"/>
          <p:cNvSpPr/>
          <p:nvPr/>
        </p:nvSpPr>
        <p:spPr>
          <a:xfrm>
            <a:off x="496119" y="2009552"/>
            <a:ext cx="3924598" cy="1486421"/>
          </a:xfrm>
          <a:prstGeom prst="roundRect">
            <a:avLst>
              <a:gd name="adj" fmla="val 3505"/>
            </a:avLst>
          </a:prstGeom>
          <a:noFill/>
          <a:ln w="4763">
            <a:solidFill>
              <a:srgbClr val="FFFFFF">
                <a:alpha val="24000"/>
              </a:srgbClr>
            </a:solidFill>
            <a:prstDash val="solid"/>
          </a:ln>
        </p:spPr>
      </p:sp>
      <p:sp>
        <p:nvSpPr>
          <p:cNvPr id="7" name="Text 5"/>
          <p:cNvSpPr/>
          <p:nvPr/>
        </p:nvSpPr>
        <p:spPr>
          <a:xfrm>
            <a:off x="624855" y="2093491"/>
            <a:ext cx="1185639"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Metric</a:t>
            </a:r>
            <a:endParaRPr lang="en-US" sz="950" dirty="0"/>
          </a:p>
        </p:txBody>
      </p:sp>
      <p:sp>
        <p:nvSpPr>
          <p:cNvPr id="8" name="Text 6"/>
          <p:cNvSpPr/>
          <p:nvPr/>
        </p:nvSpPr>
        <p:spPr>
          <a:xfrm>
            <a:off x="1606004" y="2093491"/>
            <a:ext cx="1183258"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Mean</a:t>
            </a:r>
            <a:endParaRPr lang="en-US" sz="950" dirty="0"/>
          </a:p>
        </p:txBody>
      </p:sp>
      <p:sp>
        <p:nvSpPr>
          <p:cNvPr id="9" name="Text 7"/>
          <p:cNvSpPr/>
          <p:nvPr/>
        </p:nvSpPr>
        <p:spPr>
          <a:xfrm>
            <a:off x="2584772" y="2093491"/>
            <a:ext cx="1183258"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Median</a:t>
            </a:r>
            <a:endParaRPr lang="en-US" sz="950" dirty="0"/>
          </a:p>
        </p:txBody>
      </p:sp>
      <p:sp>
        <p:nvSpPr>
          <p:cNvPr id="10" name="Text 8"/>
          <p:cNvSpPr/>
          <p:nvPr/>
        </p:nvSpPr>
        <p:spPr>
          <a:xfrm>
            <a:off x="3563541" y="2093491"/>
            <a:ext cx="1185639"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Skewness</a:t>
            </a:r>
            <a:endParaRPr lang="en-US" sz="950" dirty="0"/>
          </a:p>
        </p:txBody>
      </p:sp>
      <p:sp>
        <p:nvSpPr>
          <p:cNvPr id="11" name="Text 9"/>
          <p:cNvSpPr/>
          <p:nvPr/>
        </p:nvSpPr>
        <p:spPr>
          <a:xfrm>
            <a:off x="624855" y="2455069"/>
            <a:ext cx="728439"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ApplicantIncome</a:t>
            </a:r>
            <a:endParaRPr lang="en-US" sz="950" dirty="0"/>
          </a:p>
        </p:txBody>
      </p:sp>
      <p:sp>
        <p:nvSpPr>
          <p:cNvPr id="12" name="Text 10"/>
          <p:cNvSpPr/>
          <p:nvPr/>
        </p:nvSpPr>
        <p:spPr>
          <a:xfrm>
            <a:off x="1606004" y="2455069"/>
            <a:ext cx="1183258"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$5,403</a:t>
            </a:r>
            <a:endParaRPr lang="en-US" sz="950" dirty="0"/>
          </a:p>
        </p:txBody>
      </p:sp>
      <p:sp>
        <p:nvSpPr>
          <p:cNvPr id="13" name="Text 11"/>
          <p:cNvSpPr/>
          <p:nvPr/>
        </p:nvSpPr>
        <p:spPr>
          <a:xfrm>
            <a:off x="2584772" y="2455069"/>
            <a:ext cx="1183258"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$3,812</a:t>
            </a:r>
            <a:endParaRPr lang="en-US" sz="950" dirty="0"/>
          </a:p>
        </p:txBody>
      </p:sp>
      <p:sp>
        <p:nvSpPr>
          <p:cNvPr id="14" name="Text 12"/>
          <p:cNvSpPr/>
          <p:nvPr/>
        </p:nvSpPr>
        <p:spPr>
          <a:xfrm>
            <a:off x="3563541" y="2455069"/>
            <a:ext cx="1185639" cy="198462"/>
          </a:xfrm>
          <a:prstGeom prst="rect">
            <a:avLst/>
          </a:prstGeom>
          <a:noFill/>
          <a:ln/>
        </p:spPr>
        <p:txBody>
          <a:bodyPr wrap="none" lIns="0" tIns="0" rIns="0" bIns="0" rtlCol="0" anchor="t"/>
          <a:lstStyle/>
          <a:p>
            <a:pPr algn="l" indent="0" marL="0">
              <a:lnSpc>
                <a:spcPct val="133000"/>
              </a:lnSpc>
              <a:buNone/>
            </a:pPr>
            <a:r>
              <a:rPr lang="en-US" sz="950" b="1" dirty="0">
                <a:solidFill>
                  <a:srgbClr val="EEAEF6"/>
                </a:solidFill>
                <a:latin typeface="Montserrat" pitchFamily="34" charset="0"/>
                <a:ea typeface="Montserrat" pitchFamily="34" charset="-122"/>
                <a:cs typeface="Montserrat" pitchFamily="34" charset="-120"/>
              </a:rPr>
              <a:t>6.54</a:t>
            </a:r>
            <a:endParaRPr lang="en-US" sz="950" dirty="0"/>
          </a:p>
        </p:txBody>
      </p:sp>
      <p:sp>
        <p:nvSpPr>
          <p:cNvPr id="15" name="Text 13"/>
          <p:cNvSpPr/>
          <p:nvPr/>
        </p:nvSpPr>
        <p:spPr>
          <a:xfrm>
            <a:off x="624855" y="3015109"/>
            <a:ext cx="728439"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LoanAmount</a:t>
            </a:r>
            <a:endParaRPr lang="en-US" sz="950" dirty="0"/>
          </a:p>
        </p:txBody>
      </p:sp>
      <p:sp>
        <p:nvSpPr>
          <p:cNvPr id="16" name="Text 14"/>
          <p:cNvSpPr/>
          <p:nvPr/>
        </p:nvSpPr>
        <p:spPr>
          <a:xfrm>
            <a:off x="1606004" y="3015109"/>
            <a:ext cx="1183258"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$146.4k</a:t>
            </a:r>
            <a:endParaRPr lang="en-US" sz="950" dirty="0"/>
          </a:p>
        </p:txBody>
      </p:sp>
      <p:sp>
        <p:nvSpPr>
          <p:cNvPr id="17" name="Text 15"/>
          <p:cNvSpPr/>
          <p:nvPr/>
        </p:nvSpPr>
        <p:spPr>
          <a:xfrm>
            <a:off x="2584772" y="3015109"/>
            <a:ext cx="1183258"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$128.0k</a:t>
            </a:r>
            <a:endParaRPr lang="en-US" sz="950" dirty="0"/>
          </a:p>
        </p:txBody>
      </p:sp>
      <p:sp>
        <p:nvSpPr>
          <p:cNvPr id="18" name="Text 16"/>
          <p:cNvSpPr/>
          <p:nvPr/>
        </p:nvSpPr>
        <p:spPr>
          <a:xfrm>
            <a:off x="3563541" y="3015109"/>
            <a:ext cx="1185639" cy="198462"/>
          </a:xfrm>
          <a:prstGeom prst="rect">
            <a:avLst/>
          </a:prstGeom>
          <a:noFill/>
          <a:ln/>
        </p:spPr>
        <p:txBody>
          <a:bodyPr wrap="none" lIns="0" tIns="0" rIns="0" bIns="0" rtlCol="0" anchor="t"/>
          <a:lstStyle/>
          <a:p>
            <a:pPr algn="l" indent="0" marL="0">
              <a:lnSpc>
                <a:spcPct val="133000"/>
              </a:lnSpc>
              <a:buNone/>
            </a:pPr>
            <a:r>
              <a:rPr lang="en-US" sz="950" b="1" dirty="0">
                <a:solidFill>
                  <a:srgbClr val="EEAEF6"/>
                </a:solidFill>
                <a:latin typeface="Montserrat" pitchFamily="34" charset="0"/>
                <a:ea typeface="Montserrat" pitchFamily="34" charset="-122"/>
                <a:cs typeface="Montserrat" pitchFamily="34" charset="-120"/>
              </a:rPr>
              <a:t>2.68</a:t>
            </a:r>
            <a:endParaRPr lang="en-US" sz="950" dirty="0"/>
          </a:p>
        </p:txBody>
      </p:sp>
      <p:sp>
        <p:nvSpPr>
          <p:cNvPr id="19" name="Shape 17"/>
          <p:cNvSpPr/>
          <p:nvPr/>
        </p:nvSpPr>
        <p:spPr>
          <a:xfrm>
            <a:off x="496119" y="3635499"/>
            <a:ext cx="3924598" cy="682079"/>
          </a:xfrm>
          <a:prstGeom prst="roundRect">
            <a:avLst>
              <a:gd name="adj" fmla="val 7638"/>
            </a:avLst>
          </a:prstGeom>
          <a:solidFill>
            <a:srgbClr val="4B3F02"/>
          </a:solidFill>
          <a:ln/>
        </p:spPr>
      </p:sp>
      <p:pic>
        <p:nvPicPr>
          <p:cNvPr id="20" name="Image 0" descr="preencoded.png">    </p:cNvPr>
          <p:cNvPicPr>
            <a:picLocks noChangeAspect="1"/>
          </p:cNvPicPr>
          <p:nvPr/>
        </p:nvPicPr>
        <p:blipFill>
          <a:blip r:embed="rId1"/>
          <a:stretch>
            <a:fillRect/>
          </a:stretch>
        </p:blipFill>
        <p:spPr>
          <a:xfrm>
            <a:off x="620092" y="3820046"/>
            <a:ext cx="155004" cy="123974"/>
          </a:xfrm>
          <a:prstGeom prst="rect">
            <a:avLst/>
          </a:prstGeom>
        </p:spPr>
      </p:pic>
      <p:sp>
        <p:nvSpPr>
          <p:cNvPr id="21" name="Text 18"/>
          <p:cNvSpPr/>
          <p:nvPr/>
        </p:nvSpPr>
        <p:spPr>
          <a:xfrm>
            <a:off x="899071" y="3778076"/>
            <a:ext cx="339767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Both variables fail the Shapiro-Wilk normality test (p &lt; 0.05).</a:t>
            </a:r>
            <a:endParaRPr lang="en-US" sz="950" dirty="0"/>
          </a:p>
        </p:txBody>
      </p:sp>
      <p:sp>
        <p:nvSpPr>
          <p:cNvPr id="22" name="Text 19"/>
          <p:cNvSpPr/>
          <p:nvPr/>
        </p:nvSpPr>
        <p:spPr>
          <a:xfrm>
            <a:off x="4728046" y="1676177"/>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EEAEF6"/>
                </a:solidFill>
                <a:latin typeface="Bricolage Grotesque ExtraBold" pitchFamily="34" charset="0"/>
                <a:ea typeface="Bricolage Grotesque ExtraBold" pitchFamily="34" charset="-122"/>
                <a:cs typeface="Bricolage Grotesque ExtraBold" pitchFamily="34" charset="-120"/>
              </a:rPr>
              <a:t>Why This Matters</a:t>
            </a:r>
            <a:endParaRPr lang="en-US" sz="1200" dirty="0"/>
          </a:p>
        </p:txBody>
      </p:sp>
      <p:sp>
        <p:nvSpPr>
          <p:cNvPr id="23" name="Text 20"/>
          <p:cNvSpPr/>
          <p:nvPr/>
        </p:nvSpPr>
        <p:spPr>
          <a:xfrm>
            <a:off x="4728046" y="1993999"/>
            <a:ext cx="3924598" cy="1699320"/>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The gap between mean ($5,403) and median ($3,812) proves that a small number of ultra-wealthy applicants pull the average artificially high. Because the mean is deeply distorted by these outliers, </a:t>
            </a:r>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the median is the only reliable baseline</a:t>
            </a:r>
            <a:pPr algn="l" indent="0" marL="0">
              <a:lnSpc>
                <a:spcPct val="133000"/>
              </a:lnSpc>
              <a:spcAft>
                <a:spcPts val="850"/>
              </a:spcAft>
              <a:buNone/>
            </a:pPr>
            <a:r>
              <a:rPr lang="en-US" sz="950" dirty="0">
                <a:solidFill>
                  <a:srgbClr val="E5DCE6"/>
                </a:solidFill>
                <a:latin typeface="Montserrat" pitchFamily="34" charset="0"/>
                <a:ea typeface="Montserrat" pitchFamily="34" charset="-122"/>
                <a:cs typeface="Montserrat" pitchFamily="34" charset="-120"/>
              </a:rPr>
              <a:t> for credit limits.</a:t>
            </a:r>
            <a:endParaRPr lang="en-US" sz="950" dirty="0"/>
          </a:p>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For all downstream modeling, a </a:t>
            </a:r>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logarithmic transformation (log(x+1))</a:t>
            </a:r>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 must be applied to balance the distribution and prevent skewed financial metrics from corrupting risk scores.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21643" y="341114"/>
            <a:ext cx="843186" cy="191244"/>
          </a:xfrm>
          <a:prstGeom prst="roundRect">
            <a:avLst>
              <a:gd name="adj" fmla="val 18048"/>
            </a:avLst>
          </a:prstGeom>
          <a:noFill/>
          <a:ln w="4763">
            <a:solidFill>
              <a:srgbClr val="EEAEF6"/>
            </a:solidFill>
            <a:prstDash val="solid"/>
          </a:ln>
        </p:spPr>
      </p:sp>
      <p:sp>
        <p:nvSpPr>
          <p:cNvPr id="3" name="Text 1"/>
          <p:cNvSpPr/>
          <p:nvPr/>
        </p:nvSpPr>
        <p:spPr>
          <a:xfrm>
            <a:off x="588020" y="376684"/>
            <a:ext cx="1167631" cy="120104"/>
          </a:xfrm>
          <a:prstGeom prst="rect">
            <a:avLst/>
          </a:prstGeom>
          <a:noFill/>
          <a:ln/>
        </p:spPr>
        <p:txBody>
          <a:bodyPr wrap="none" lIns="0" tIns="0" rIns="0" bIns="0" rtlCol="0" anchor="t"/>
          <a:lstStyle/>
          <a:p>
            <a:pPr algn="l" indent="0" marL="0">
              <a:lnSpc>
                <a:spcPct val="122000"/>
              </a:lnSpc>
              <a:buNone/>
            </a:pPr>
            <a:r>
              <a:rPr lang="en-US" sz="600" dirty="0">
                <a:solidFill>
                  <a:srgbClr val="EEAEF6"/>
                </a:solidFill>
                <a:latin typeface="Montserrat" pitchFamily="34" charset="0"/>
                <a:ea typeface="Montserrat" pitchFamily="34" charset="-122"/>
                <a:cs typeface="Montserrat" pitchFamily="34" charset="-120"/>
              </a:rPr>
              <a:t>DEMOGRAPHICS</a:t>
            </a:r>
            <a:endParaRPr lang="en-US" sz="600" dirty="0"/>
          </a:p>
        </p:txBody>
      </p:sp>
      <p:sp>
        <p:nvSpPr>
          <p:cNvPr id="4" name="Text 2"/>
          <p:cNvSpPr/>
          <p:nvPr/>
        </p:nvSpPr>
        <p:spPr>
          <a:xfrm>
            <a:off x="521643" y="566365"/>
            <a:ext cx="5665961" cy="320948"/>
          </a:xfrm>
          <a:prstGeom prst="rect">
            <a:avLst/>
          </a:prstGeom>
          <a:noFill/>
          <a:ln/>
        </p:spPr>
        <p:txBody>
          <a:bodyPr wrap="none" lIns="0" tIns="0" rIns="0" bIns="0" rtlCol="0" anchor="t"/>
          <a:lstStyle/>
          <a:p>
            <a:pPr algn="l" indent="0" marL="0">
              <a:lnSpc>
                <a:spcPct val="104000"/>
              </a:lnSpc>
              <a:buNone/>
            </a:pPr>
            <a:r>
              <a:rPr lang="en-US" sz="2000" dirty="0">
                <a:solidFill>
                  <a:srgbClr val="EEAEF6"/>
                </a:solidFill>
                <a:latin typeface="Bricolage Grotesque ExtraBold" pitchFamily="34" charset="0"/>
                <a:ea typeface="Bricolage Grotesque ExtraBold" pitchFamily="34" charset="-122"/>
                <a:cs typeface="Bricolage Grotesque ExtraBold" pitchFamily="34" charset="-120"/>
              </a:rPr>
              <a:t>Baseline Distribution &amp; Target Landscape</a:t>
            </a:r>
            <a:endParaRPr lang="en-US" sz="2000" dirty="0"/>
          </a:p>
        </p:txBody>
      </p:sp>
      <p:sp>
        <p:nvSpPr>
          <p:cNvPr id="5" name="Text 3"/>
          <p:cNvSpPr/>
          <p:nvPr/>
        </p:nvSpPr>
        <p:spPr>
          <a:xfrm>
            <a:off x="521643" y="1099914"/>
            <a:ext cx="1937668" cy="160511"/>
          </a:xfrm>
          <a:prstGeom prst="rect">
            <a:avLst/>
          </a:prstGeom>
          <a:noFill/>
          <a:ln/>
        </p:spPr>
        <p:txBody>
          <a:bodyPr wrap="none" lIns="0" tIns="0" rIns="0" bIns="0" rtlCol="0" anchor="t"/>
          <a:lstStyle/>
          <a:p>
            <a:pPr algn="l" indent="0" marL="0">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Loan Approval Baseline</a:t>
            </a:r>
            <a:endParaRPr lang="en-US" sz="1000" dirty="0"/>
          </a:p>
        </p:txBody>
      </p:sp>
      <p:pic>
        <p:nvPicPr>
          <p:cNvPr id="6" name="Image 0" descr="preencoded.png">    </p:cNvPr>
          <p:cNvPicPr>
            <a:picLocks noChangeAspect="1"/>
          </p:cNvPicPr>
          <p:nvPr/>
        </p:nvPicPr>
        <p:blipFill>
          <a:blip r:embed="rId1"/>
          <a:stretch>
            <a:fillRect/>
          </a:stretch>
        </p:blipFill>
        <p:spPr>
          <a:xfrm>
            <a:off x="521643" y="1356122"/>
            <a:ext cx="3924970" cy="2825204"/>
          </a:xfrm>
          <a:prstGeom prst="rect">
            <a:avLst/>
          </a:prstGeom>
        </p:spPr>
      </p:pic>
      <p:sp>
        <p:nvSpPr>
          <p:cNvPr id="7" name="Text 4"/>
          <p:cNvSpPr/>
          <p:nvPr/>
        </p:nvSpPr>
        <p:spPr>
          <a:xfrm>
            <a:off x="521643" y="4277023"/>
            <a:ext cx="3924970" cy="300335"/>
          </a:xfrm>
          <a:prstGeom prst="rect">
            <a:avLst/>
          </a:prstGeom>
          <a:noFill/>
          <a:ln/>
        </p:spPr>
        <p:txBody>
          <a:bodyPr wrap="square" lIns="0" tIns="0" rIns="0" bIns="0" rtlCol="0" anchor="t">
            <a:normAutofit/>
          </a:bodyPr>
          <a:lstStyle/>
          <a:p>
            <a:pPr algn="l" indent="0" marL="0">
              <a:lnSpc>
                <a:spcPct val="122000"/>
              </a:lnSpc>
              <a:buNone/>
            </a:pPr>
            <a:r>
              <a:rPr lang="en-US" sz="800" b="1" dirty="0">
                <a:solidFill>
                  <a:srgbClr val="E5DCE6"/>
                </a:solidFill>
                <a:latin typeface="Montserrat" pitchFamily="34" charset="0"/>
                <a:ea typeface="Montserrat" pitchFamily="34" charset="-122"/>
                <a:cs typeface="Montserrat" pitchFamily="34" charset="-120"/>
              </a:rPr>
              <a:t>68.7% approved</a:t>
            </a:r>
            <a:pPr algn="l" indent="0" marL="0">
              <a:lnSpc>
                <a:spcPct val="122000"/>
              </a:lnSpc>
              <a:buNone/>
            </a:pPr>
            <a:r>
              <a:rPr lang="en-US" sz="800" dirty="0">
                <a:solidFill>
                  <a:srgbClr val="E5DCE6"/>
                </a:solidFill>
                <a:latin typeface="Montserrat" pitchFamily="34" charset="0"/>
                <a:ea typeface="Montserrat" pitchFamily="34" charset="-122"/>
                <a:cs typeface="Montserrat" pitchFamily="34" charset="-120"/>
              </a:rPr>
              <a:t> vs. </a:t>
            </a:r>
            <a:pPr algn="l" indent="0" marL="0">
              <a:lnSpc>
                <a:spcPct val="122000"/>
              </a:lnSpc>
              <a:buNone/>
            </a:pPr>
            <a:r>
              <a:rPr lang="en-US" sz="800" b="1" dirty="0">
                <a:solidFill>
                  <a:srgbClr val="E5DCE6"/>
                </a:solidFill>
                <a:latin typeface="Montserrat" pitchFamily="34" charset="0"/>
                <a:ea typeface="Montserrat" pitchFamily="34" charset="-122"/>
                <a:cs typeface="Montserrat" pitchFamily="34" charset="-120"/>
              </a:rPr>
              <a:t>31.3% rejected.</a:t>
            </a:r>
            <a:pPr algn="l" indent="0" marL="0">
              <a:lnSpc>
                <a:spcPct val="122000"/>
              </a:lnSpc>
              <a:buNone/>
            </a:pPr>
            <a:r>
              <a:rPr lang="en-US" sz="800" dirty="0">
                <a:solidFill>
                  <a:srgbClr val="E5DCE6"/>
                </a:solidFill>
                <a:latin typeface="Montserrat" pitchFamily="34" charset="0"/>
                <a:ea typeface="Montserrat" pitchFamily="34" charset="-122"/>
                <a:cs typeface="Montserrat" pitchFamily="34" charset="-120"/>
              </a:rPr>
              <a:t> Predictive models will easily default to "Approved" unless penalizing criteria are strictly enforced.</a:t>
            </a:r>
            <a:endParaRPr lang="en-US" sz="800" dirty="0"/>
          </a:p>
        </p:txBody>
      </p:sp>
      <p:sp>
        <p:nvSpPr>
          <p:cNvPr id="8" name="Text 5"/>
          <p:cNvSpPr/>
          <p:nvPr/>
        </p:nvSpPr>
        <p:spPr>
          <a:xfrm>
            <a:off x="4702001" y="1099914"/>
            <a:ext cx="1741215" cy="160511"/>
          </a:xfrm>
          <a:prstGeom prst="rect">
            <a:avLst/>
          </a:prstGeom>
          <a:noFill/>
          <a:ln/>
        </p:spPr>
        <p:txBody>
          <a:bodyPr wrap="none" lIns="0" tIns="0" rIns="0" bIns="0" rtlCol="0" anchor="t"/>
          <a:lstStyle/>
          <a:p>
            <a:pPr algn="l" indent="0" marL="0">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Gender Distribution</a:t>
            </a:r>
            <a:endParaRPr lang="en-US" sz="1000" dirty="0"/>
          </a:p>
        </p:txBody>
      </p:sp>
      <p:pic>
        <p:nvPicPr>
          <p:cNvPr id="9" name="Image 1" descr="preencoded.png">    </p:cNvPr>
          <p:cNvPicPr>
            <a:picLocks noChangeAspect="1"/>
          </p:cNvPicPr>
          <p:nvPr/>
        </p:nvPicPr>
        <p:blipFill>
          <a:blip r:embed="rId2"/>
          <a:stretch>
            <a:fillRect/>
          </a:stretch>
        </p:blipFill>
        <p:spPr>
          <a:xfrm>
            <a:off x="4702001" y="1356122"/>
            <a:ext cx="3924970" cy="2825204"/>
          </a:xfrm>
          <a:prstGeom prst="rect">
            <a:avLst/>
          </a:prstGeom>
        </p:spPr>
      </p:pic>
      <p:sp>
        <p:nvSpPr>
          <p:cNvPr id="10" name="Text 6"/>
          <p:cNvSpPr/>
          <p:nvPr/>
        </p:nvSpPr>
        <p:spPr>
          <a:xfrm>
            <a:off x="4702001" y="4277023"/>
            <a:ext cx="3924970" cy="450503"/>
          </a:xfrm>
          <a:prstGeom prst="rect">
            <a:avLst/>
          </a:prstGeom>
          <a:noFill/>
          <a:ln/>
        </p:spPr>
        <p:txBody>
          <a:bodyPr wrap="square" lIns="0" tIns="0" rIns="0" bIns="0" rtlCol="0" anchor="t">
            <a:normAutofit/>
          </a:bodyPr>
          <a:lstStyle/>
          <a:p>
            <a:pPr algn="l" indent="0" marL="0">
              <a:lnSpc>
                <a:spcPct val="122000"/>
              </a:lnSpc>
              <a:buNone/>
            </a:pPr>
            <a:r>
              <a:rPr lang="en-US" sz="800" b="1" dirty="0">
                <a:solidFill>
                  <a:srgbClr val="E5DCE6"/>
                </a:solidFill>
                <a:latin typeface="Montserrat" pitchFamily="34" charset="0"/>
                <a:ea typeface="Montserrat" pitchFamily="34" charset="-122"/>
                <a:cs typeface="Montserrat" pitchFamily="34" charset="-120"/>
              </a:rPr>
              <a:t>81.4% Male</a:t>
            </a:r>
            <a:pPr algn="l" indent="0" marL="0">
              <a:lnSpc>
                <a:spcPct val="122000"/>
              </a:lnSpc>
              <a:buNone/>
            </a:pPr>
            <a:r>
              <a:rPr lang="en-US" sz="800" dirty="0">
                <a:solidFill>
                  <a:srgbClr val="E5DCE6"/>
                </a:solidFill>
                <a:latin typeface="Montserrat" pitchFamily="34" charset="0"/>
                <a:ea typeface="Montserrat" pitchFamily="34" charset="-122"/>
                <a:cs typeface="Montserrat" pitchFamily="34" charset="-120"/>
              </a:rPr>
              <a:t> vs. </a:t>
            </a:r>
            <a:pPr algn="l" indent="0" marL="0">
              <a:lnSpc>
                <a:spcPct val="122000"/>
              </a:lnSpc>
              <a:buNone/>
            </a:pPr>
            <a:r>
              <a:rPr lang="en-US" sz="800" b="1" dirty="0">
                <a:solidFill>
                  <a:srgbClr val="E5DCE6"/>
                </a:solidFill>
                <a:latin typeface="Montserrat" pitchFamily="34" charset="0"/>
                <a:ea typeface="Montserrat" pitchFamily="34" charset="-122"/>
                <a:cs typeface="Montserrat" pitchFamily="34" charset="-120"/>
              </a:rPr>
              <a:t>18.6% Female.</a:t>
            </a:r>
            <a:pPr algn="l" indent="0" marL="0">
              <a:lnSpc>
                <a:spcPct val="122000"/>
              </a:lnSpc>
              <a:buNone/>
            </a:pPr>
            <a:r>
              <a:rPr lang="en-US" sz="800" dirty="0">
                <a:solidFill>
                  <a:srgbClr val="E5DCE6"/>
                </a:solidFill>
                <a:latin typeface="Montserrat" pitchFamily="34" charset="0"/>
                <a:ea typeface="Montserrat" pitchFamily="34" charset="-122"/>
                <a:cs typeface="Montserrat" pitchFamily="34" charset="-120"/>
              </a:rPr>
              <a:t> This severe skew suggests historically male-dominated outreach. Risk managers must audit models to ensure this imbalance does not translate into systemic lending bias.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351160"/>
            <a:ext cx="1408509" cy="242739"/>
          </a:xfrm>
          <a:prstGeom prst="roundRect">
            <a:avLst>
              <a:gd name="adj" fmla="val 17171"/>
            </a:avLst>
          </a:prstGeom>
          <a:noFill/>
          <a:ln w="4763">
            <a:solidFill>
              <a:srgbClr val="EEAEF6"/>
            </a:solidFill>
            <a:prstDash val="solid"/>
          </a:ln>
        </p:spPr>
      </p:sp>
      <p:sp>
        <p:nvSpPr>
          <p:cNvPr id="3" name="Text 1"/>
          <p:cNvSpPr/>
          <p:nvPr/>
        </p:nvSpPr>
        <p:spPr>
          <a:xfrm>
            <a:off x="575295" y="393129"/>
            <a:ext cx="1707356" cy="158800"/>
          </a:xfrm>
          <a:prstGeom prst="rect">
            <a:avLst/>
          </a:prstGeom>
          <a:noFill/>
          <a:ln/>
        </p:spPr>
        <p:txBody>
          <a:bodyPr wrap="none" lIns="0" tIns="0" rIns="0" bIns="0" rtlCol="0" anchor="t"/>
          <a:lstStyle/>
          <a:p>
            <a:pPr algn="l" indent="0" marL="0">
              <a:lnSpc>
                <a:spcPct val="133000"/>
              </a:lnSpc>
              <a:buNone/>
            </a:pPr>
            <a:r>
              <a:rPr lang="en-US" sz="750" dirty="0">
                <a:solidFill>
                  <a:srgbClr val="EEAEF6"/>
                </a:solidFill>
                <a:latin typeface="Montserrat" pitchFamily="34" charset="0"/>
                <a:ea typeface="Montserrat" pitchFamily="34" charset="-122"/>
                <a:cs typeface="Montserrat" pitchFamily="34" charset="-120"/>
              </a:rPr>
              <a:t>CORRELATION ANALYSIS</a:t>
            </a:r>
            <a:endParaRPr lang="en-US" sz="750" dirty="0"/>
          </a:p>
        </p:txBody>
      </p:sp>
      <p:sp>
        <p:nvSpPr>
          <p:cNvPr id="4" name="Text 2"/>
          <p:cNvSpPr/>
          <p:nvPr/>
        </p:nvSpPr>
        <p:spPr>
          <a:xfrm>
            <a:off x="496119" y="643458"/>
            <a:ext cx="5805264" cy="387548"/>
          </a:xfrm>
          <a:prstGeom prst="rect">
            <a:avLst/>
          </a:prstGeom>
          <a:noFill/>
          <a:ln/>
        </p:spPr>
        <p:txBody>
          <a:bodyPr wrap="none" lIns="0" tIns="0" rIns="0" bIns="0" rtlCol="0" anchor="t"/>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Justified Variable Interdependence</a:t>
            </a:r>
            <a:endParaRPr lang="en-US" sz="2400" dirty="0"/>
          </a:p>
        </p:txBody>
      </p:sp>
      <p:sp>
        <p:nvSpPr>
          <p:cNvPr id="5" name="Text 3"/>
          <p:cNvSpPr/>
          <p:nvPr/>
        </p:nvSpPr>
        <p:spPr>
          <a:xfrm>
            <a:off x="496119" y="1217042"/>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Standard Pearson correlation would produce incorrect results on this dataset. Pearson expects perfectly normal, bell-curved data — using it on skewed metrics like ApplicantIncome would let outliers completely warp our understanding of what drives loan decisions.</a:t>
            </a:r>
            <a:endParaRPr lang="en-US" sz="950" dirty="0"/>
          </a:p>
        </p:txBody>
      </p:sp>
      <p:sp>
        <p:nvSpPr>
          <p:cNvPr id="6" name="Shape 4"/>
          <p:cNvSpPr/>
          <p:nvPr/>
        </p:nvSpPr>
        <p:spPr>
          <a:xfrm>
            <a:off x="496119" y="1951955"/>
            <a:ext cx="8151763" cy="2840310"/>
          </a:xfrm>
          <a:prstGeom prst="roundRect">
            <a:avLst>
              <a:gd name="adj" fmla="val 1834"/>
            </a:avLst>
          </a:prstGeom>
          <a:noFill/>
          <a:ln w="4763">
            <a:solidFill>
              <a:srgbClr val="FFFFFF">
                <a:alpha val="24000"/>
              </a:srgbClr>
            </a:solidFill>
            <a:prstDash val="solid"/>
          </a:ln>
        </p:spPr>
      </p:sp>
      <p:sp>
        <p:nvSpPr>
          <p:cNvPr id="7" name="Text 5"/>
          <p:cNvSpPr/>
          <p:nvPr/>
        </p:nvSpPr>
        <p:spPr>
          <a:xfrm>
            <a:off x="625004" y="2035894"/>
            <a:ext cx="2489076"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Tested Relationship</a:t>
            </a:r>
            <a:endParaRPr lang="en-US" sz="950" dirty="0"/>
          </a:p>
        </p:txBody>
      </p:sp>
      <p:sp>
        <p:nvSpPr>
          <p:cNvPr id="8" name="Text 6"/>
          <p:cNvSpPr/>
          <p:nvPr/>
        </p:nvSpPr>
        <p:spPr>
          <a:xfrm>
            <a:off x="2904827" y="2035894"/>
            <a:ext cx="1674837"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Scales Involved</a:t>
            </a:r>
            <a:endParaRPr lang="en-US" sz="950" dirty="0"/>
          </a:p>
        </p:txBody>
      </p:sp>
      <p:sp>
        <p:nvSpPr>
          <p:cNvPr id="9" name="Text 7"/>
          <p:cNvSpPr/>
          <p:nvPr/>
        </p:nvSpPr>
        <p:spPr>
          <a:xfrm>
            <a:off x="4370412" y="2035894"/>
            <a:ext cx="2000473"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Chosen Coefficient</a:t>
            </a:r>
            <a:endParaRPr lang="en-US" sz="950" dirty="0"/>
          </a:p>
        </p:txBody>
      </p:sp>
      <p:sp>
        <p:nvSpPr>
          <p:cNvPr id="10" name="Text 8"/>
          <p:cNvSpPr/>
          <p:nvPr/>
        </p:nvSpPr>
        <p:spPr>
          <a:xfrm>
            <a:off x="6161633" y="2035894"/>
            <a:ext cx="2814712"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Justification &amp; Business Meaning</a:t>
            </a:r>
            <a:endParaRPr lang="en-US" sz="950" dirty="0"/>
          </a:p>
        </p:txBody>
      </p:sp>
      <p:sp>
        <p:nvSpPr>
          <p:cNvPr id="11" name="Text 9"/>
          <p:cNvSpPr/>
          <p:nvPr/>
        </p:nvSpPr>
        <p:spPr>
          <a:xfrm>
            <a:off x="625004" y="2397472"/>
            <a:ext cx="203187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ApplicantIncome vs. LoanAmount</a:t>
            </a:r>
            <a:endParaRPr lang="en-US" sz="950" dirty="0"/>
          </a:p>
        </p:txBody>
      </p:sp>
      <p:sp>
        <p:nvSpPr>
          <p:cNvPr id="12" name="Text 10"/>
          <p:cNvSpPr/>
          <p:nvPr/>
        </p:nvSpPr>
        <p:spPr>
          <a:xfrm>
            <a:off x="2904827" y="2397472"/>
            <a:ext cx="1674837"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Ratio vs. Ratio</a:t>
            </a:r>
            <a:endParaRPr lang="en-US" sz="950" dirty="0"/>
          </a:p>
        </p:txBody>
      </p:sp>
      <p:sp>
        <p:nvSpPr>
          <p:cNvPr id="13" name="Text 11"/>
          <p:cNvSpPr/>
          <p:nvPr/>
        </p:nvSpPr>
        <p:spPr>
          <a:xfrm>
            <a:off x="4370412" y="2397472"/>
            <a:ext cx="2000473"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Spearman Rank</a:t>
            </a:r>
            <a:endParaRPr lang="en-US" sz="950" dirty="0"/>
          </a:p>
        </p:txBody>
      </p:sp>
      <p:sp>
        <p:nvSpPr>
          <p:cNvPr id="14" name="Text 12"/>
          <p:cNvSpPr/>
          <p:nvPr/>
        </p:nvSpPr>
        <p:spPr>
          <a:xfrm>
            <a:off x="6161633" y="2397472"/>
            <a:ext cx="235751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Used because both variables are heavily non-normal. Identifies that requested loans scale monotonically with income.</a:t>
            </a:r>
            <a:endParaRPr lang="en-US" sz="950" dirty="0"/>
          </a:p>
        </p:txBody>
      </p:sp>
      <p:sp>
        <p:nvSpPr>
          <p:cNvPr id="15" name="Text 13"/>
          <p:cNvSpPr/>
          <p:nvPr/>
        </p:nvSpPr>
        <p:spPr>
          <a:xfrm>
            <a:off x="625004" y="3354437"/>
            <a:ext cx="2489076"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Credit_History vs. Loan_Status</a:t>
            </a:r>
            <a:endParaRPr lang="en-US" sz="950" dirty="0"/>
          </a:p>
        </p:txBody>
      </p:sp>
      <p:sp>
        <p:nvSpPr>
          <p:cNvPr id="16" name="Text 14"/>
          <p:cNvSpPr/>
          <p:nvPr/>
        </p:nvSpPr>
        <p:spPr>
          <a:xfrm>
            <a:off x="2904827" y="3354437"/>
            <a:ext cx="1674837"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Binary vs. Binary</a:t>
            </a:r>
            <a:endParaRPr lang="en-US" sz="950" dirty="0"/>
          </a:p>
        </p:txBody>
      </p:sp>
      <p:sp>
        <p:nvSpPr>
          <p:cNvPr id="17" name="Text 15"/>
          <p:cNvSpPr/>
          <p:nvPr/>
        </p:nvSpPr>
        <p:spPr>
          <a:xfrm>
            <a:off x="4370412" y="3354437"/>
            <a:ext cx="2000473"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Cramér's V</a:t>
            </a:r>
            <a:endParaRPr lang="en-US" sz="950" dirty="0"/>
          </a:p>
        </p:txBody>
      </p:sp>
      <p:sp>
        <p:nvSpPr>
          <p:cNvPr id="18" name="Text 16"/>
          <p:cNvSpPr/>
          <p:nvPr/>
        </p:nvSpPr>
        <p:spPr>
          <a:xfrm>
            <a:off x="6161633" y="3354437"/>
            <a:ext cx="235751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Best for two nominal categories. Quantifies how directly a past default guarantees an immediate rejection.</a:t>
            </a:r>
            <a:endParaRPr lang="en-US" sz="950" dirty="0"/>
          </a:p>
        </p:txBody>
      </p:sp>
      <p:sp>
        <p:nvSpPr>
          <p:cNvPr id="19" name="Text 17"/>
          <p:cNvSpPr/>
          <p:nvPr/>
        </p:nvSpPr>
        <p:spPr>
          <a:xfrm>
            <a:off x="625004" y="4112940"/>
            <a:ext cx="2489076"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Education vs. Loan_Status</a:t>
            </a:r>
            <a:endParaRPr lang="en-US" sz="950" dirty="0"/>
          </a:p>
        </p:txBody>
      </p:sp>
      <p:sp>
        <p:nvSpPr>
          <p:cNvPr id="20" name="Text 18"/>
          <p:cNvSpPr/>
          <p:nvPr/>
        </p:nvSpPr>
        <p:spPr>
          <a:xfrm>
            <a:off x="2904827" y="4112940"/>
            <a:ext cx="1674837"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Ordinal vs. Binary</a:t>
            </a:r>
            <a:endParaRPr lang="en-US" sz="950" dirty="0"/>
          </a:p>
        </p:txBody>
      </p:sp>
      <p:sp>
        <p:nvSpPr>
          <p:cNvPr id="21" name="Text 19"/>
          <p:cNvSpPr/>
          <p:nvPr/>
        </p:nvSpPr>
        <p:spPr>
          <a:xfrm>
            <a:off x="4370412" y="4112940"/>
            <a:ext cx="2000473"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Spearman / Cramér's V</a:t>
            </a:r>
            <a:endParaRPr lang="en-US" sz="950" dirty="0"/>
          </a:p>
        </p:txBody>
      </p:sp>
      <p:sp>
        <p:nvSpPr>
          <p:cNvPr id="22" name="Text 20"/>
          <p:cNvSpPr/>
          <p:nvPr/>
        </p:nvSpPr>
        <p:spPr>
          <a:xfrm>
            <a:off x="6161633" y="4112940"/>
            <a:ext cx="235751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Tests if holding a college degree provides a statistically significant advantage in securing a loan.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285875" y="378842"/>
            <a:ext cx="727993" cy="148679"/>
          </a:xfrm>
          <a:prstGeom prst="roundRect">
            <a:avLst>
              <a:gd name="adj" fmla="val 18835"/>
            </a:avLst>
          </a:prstGeom>
          <a:noFill/>
          <a:ln w="4763">
            <a:solidFill>
              <a:srgbClr val="EEAEF6"/>
            </a:solidFill>
            <a:prstDash val="solid"/>
          </a:ln>
        </p:spPr>
      </p:sp>
      <p:sp>
        <p:nvSpPr>
          <p:cNvPr id="3" name="Text 1"/>
          <p:cNvSpPr/>
          <p:nvPr/>
        </p:nvSpPr>
        <p:spPr>
          <a:xfrm>
            <a:off x="1340644" y="408608"/>
            <a:ext cx="1075655" cy="89148"/>
          </a:xfrm>
          <a:prstGeom prst="rect">
            <a:avLst/>
          </a:prstGeom>
          <a:noFill/>
          <a:ln/>
        </p:spPr>
        <p:txBody>
          <a:bodyPr wrap="none" lIns="0" tIns="0" rIns="0" bIns="0" rtlCol="0" anchor="t"/>
          <a:lstStyle/>
          <a:p>
            <a:pPr algn="l" indent="0" marL="0">
              <a:lnSpc>
                <a:spcPct val="111000"/>
              </a:lnSpc>
              <a:buNone/>
            </a:pPr>
            <a:r>
              <a:rPr lang="en-US" sz="500" dirty="0">
                <a:solidFill>
                  <a:srgbClr val="EEAEF6"/>
                </a:solidFill>
                <a:latin typeface="Montserrat" pitchFamily="34" charset="0"/>
                <a:ea typeface="Montserrat" pitchFamily="34" charset="-122"/>
                <a:cs typeface="Montserrat" pitchFamily="34" charset="-120"/>
              </a:rPr>
              <a:t>VISUAL EVIDENCE</a:t>
            </a:r>
            <a:endParaRPr lang="en-US" sz="500" dirty="0"/>
          </a:p>
        </p:txBody>
      </p:sp>
      <p:sp>
        <p:nvSpPr>
          <p:cNvPr id="4" name="Text 2"/>
          <p:cNvSpPr/>
          <p:nvPr/>
        </p:nvSpPr>
        <p:spPr>
          <a:xfrm>
            <a:off x="1285875" y="549920"/>
            <a:ext cx="4684886" cy="260449"/>
          </a:xfrm>
          <a:prstGeom prst="rect">
            <a:avLst/>
          </a:prstGeom>
          <a:noFill/>
          <a:ln/>
        </p:spPr>
        <p:txBody>
          <a:bodyPr wrap="none" lIns="0" tIns="0" rIns="0" bIns="0" rtlCol="0" anchor="t"/>
          <a:lstStyle/>
          <a:p>
            <a:pPr algn="l" indent="0" marL="0">
              <a:lnSpc>
                <a:spcPct val="104000"/>
              </a:lnSpc>
              <a:buNone/>
            </a:pPr>
            <a:r>
              <a:rPr lang="en-US" sz="1600" dirty="0">
                <a:solidFill>
                  <a:srgbClr val="EEAEF6"/>
                </a:solidFill>
                <a:latin typeface="Bricolage Grotesque ExtraBold" pitchFamily="34" charset="0"/>
                <a:ea typeface="Bricolage Grotesque ExtraBold" pitchFamily="34" charset="-122"/>
                <a:cs typeface="Bricolage Grotesque ExtraBold" pitchFamily="34" charset="-120"/>
              </a:rPr>
              <a:t>Visual Proof: Income vs. Past Compliance</a:t>
            </a:r>
            <a:endParaRPr lang="en-US" sz="1600" dirty="0"/>
          </a:p>
        </p:txBody>
      </p:sp>
      <p:sp>
        <p:nvSpPr>
          <p:cNvPr id="5" name="Text 3"/>
          <p:cNvSpPr/>
          <p:nvPr/>
        </p:nvSpPr>
        <p:spPr>
          <a:xfrm>
            <a:off x="1285875" y="894308"/>
            <a:ext cx="7029450" cy="111472"/>
          </a:xfrm>
          <a:prstGeom prst="rect">
            <a:avLst/>
          </a:prstGeom>
          <a:noFill/>
          <a:ln/>
        </p:spPr>
        <p:txBody>
          <a:bodyPr wrap="none" lIns="0" tIns="0" rIns="0" bIns="0" rtlCol="0" anchor="t"/>
          <a:lstStyle/>
          <a:p>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Two visualizations reveal the true hierarchy of credit risk drivers — and challenge the assumption that income alone determines approval.</a:t>
            </a:r>
            <a:endParaRPr lang="en-US" sz="650" dirty="0"/>
          </a:p>
        </p:txBody>
      </p:sp>
      <p:sp>
        <p:nvSpPr>
          <p:cNvPr id="6" name="Text 4"/>
          <p:cNvSpPr/>
          <p:nvPr/>
        </p:nvSpPr>
        <p:spPr>
          <a:xfrm>
            <a:off x="1285875" y="1124694"/>
            <a:ext cx="2526357" cy="130225"/>
          </a:xfrm>
          <a:prstGeom prst="rect">
            <a:avLst/>
          </a:prstGeom>
          <a:noFill/>
          <a:ln/>
        </p:spPr>
        <p:txBody>
          <a:bodyPr wrap="none" lIns="0" tIns="0" rIns="0" bIns="0" rtlCol="0" anchor="t"/>
          <a:lstStyle/>
          <a:p>
            <a:pPr algn="l" indent="0" marL="0">
              <a:lnSpc>
                <a:spcPct val="104000"/>
              </a:lnSpc>
              <a:buNone/>
            </a:pPr>
            <a:r>
              <a:rPr lang="en-US" sz="800" dirty="0">
                <a:solidFill>
                  <a:srgbClr val="EEAEF6"/>
                </a:solidFill>
                <a:latin typeface="Bricolage Grotesque ExtraBold" pitchFamily="34" charset="0"/>
                <a:ea typeface="Bricolage Grotesque ExtraBold" pitchFamily="34" charset="-122"/>
                <a:cs typeface="Bricolage Grotesque ExtraBold" pitchFamily="34" charset="-120"/>
              </a:rPr>
              <a:t>Log-Transformed Income by Loan Status</a:t>
            </a:r>
            <a:endParaRPr lang="en-US" sz="800" dirty="0"/>
          </a:p>
        </p:txBody>
      </p:sp>
      <p:sp>
        <p:nvSpPr>
          <p:cNvPr id="7" name="Text 5"/>
          <p:cNvSpPr/>
          <p:nvPr/>
        </p:nvSpPr>
        <p:spPr>
          <a:xfrm>
            <a:off x="1285875" y="1310878"/>
            <a:ext cx="3184475" cy="445889"/>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The median log-income for approved ('Y') and rejected ('N') applicants is virtually identical. </a:t>
            </a:r>
            <a:pPr algn="l" indent="0" marL="0">
              <a:lnSpc>
                <a:spcPct val="111000"/>
              </a:lnSpc>
              <a:buNone/>
            </a:pPr>
            <a:r>
              <a:rPr lang="en-US" sz="650" b="1" dirty="0">
                <a:solidFill>
                  <a:srgbClr val="E5DCE6"/>
                </a:solidFill>
                <a:latin typeface="Montserrat" pitchFamily="34" charset="0"/>
                <a:ea typeface="Montserrat" pitchFamily="34" charset="-122"/>
                <a:cs typeface="Montserrat" pitchFamily="34" charset="-120"/>
              </a:rPr>
              <a:t>High income does not protect an applicant from rejection</a:t>
            </a:r>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 if they carry an active history of default. Income is a secondary factor, not a deciding one.</a:t>
            </a:r>
            <a:endParaRPr lang="en-US" sz="650" dirty="0"/>
          </a:p>
        </p:txBody>
      </p:sp>
      <p:sp>
        <p:nvSpPr>
          <p:cNvPr id="8" name="Text 6"/>
          <p:cNvSpPr/>
          <p:nvPr/>
        </p:nvSpPr>
        <p:spPr>
          <a:xfrm>
            <a:off x="4678412" y="1124694"/>
            <a:ext cx="2667372" cy="130225"/>
          </a:xfrm>
          <a:prstGeom prst="rect">
            <a:avLst/>
          </a:prstGeom>
          <a:noFill/>
          <a:ln/>
        </p:spPr>
        <p:txBody>
          <a:bodyPr wrap="none" lIns="0" tIns="0" rIns="0" bIns="0" rtlCol="0" anchor="t"/>
          <a:lstStyle/>
          <a:p>
            <a:pPr algn="l" indent="0" marL="0">
              <a:lnSpc>
                <a:spcPct val="104000"/>
              </a:lnSpc>
              <a:buNone/>
            </a:pPr>
            <a:r>
              <a:rPr lang="en-US" sz="800" dirty="0">
                <a:solidFill>
                  <a:srgbClr val="EEAEF6"/>
                </a:solidFill>
                <a:latin typeface="Bricolage Grotesque ExtraBold" pitchFamily="34" charset="0"/>
                <a:ea typeface="Bricolage Grotesque ExtraBold" pitchFamily="34" charset="-122"/>
                <a:cs typeface="Bricolage Grotesque ExtraBold" pitchFamily="34" charset="-120"/>
              </a:rPr>
              <a:t>Credit History vs. Loan Status (Normalized)</a:t>
            </a:r>
            <a:endParaRPr lang="en-US" sz="800" dirty="0"/>
          </a:p>
        </p:txBody>
      </p:sp>
      <p:sp>
        <p:nvSpPr>
          <p:cNvPr id="9" name="Text 7"/>
          <p:cNvSpPr/>
          <p:nvPr/>
        </p:nvSpPr>
        <p:spPr>
          <a:xfrm>
            <a:off x="4678412" y="1310878"/>
            <a:ext cx="3184475" cy="445889"/>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The normalized stacked bar chart reveals an extreme divergence. Applicants with a credit history score of </a:t>
            </a:r>
            <a:pPr algn="l" indent="0" marL="0">
              <a:lnSpc>
                <a:spcPct val="111000"/>
              </a:lnSpc>
              <a:buNone/>
            </a:pPr>
            <a:r>
              <a:rPr lang="en-US" sz="650" b="1" dirty="0">
                <a:solidFill>
                  <a:srgbClr val="E5DCE6"/>
                </a:solidFill>
                <a:latin typeface="Montserrat" pitchFamily="34" charset="0"/>
                <a:ea typeface="Montserrat" pitchFamily="34" charset="-122"/>
                <a:cs typeface="Montserrat" pitchFamily="34" charset="-120"/>
              </a:rPr>
              <a:t>1.0</a:t>
            </a:r>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 have a massive approval rate, while those with a </a:t>
            </a:r>
            <a:pPr algn="l" indent="0" marL="0">
              <a:lnSpc>
                <a:spcPct val="111000"/>
              </a:lnSpc>
              <a:buNone/>
            </a:pPr>
            <a:r>
              <a:rPr lang="en-US" sz="650" b="1" dirty="0">
                <a:solidFill>
                  <a:srgbClr val="E5DCE6"/>
                </a:solidFill>
                <a:latin typeface="Montserrat" pitchFamily="34" charset="0"/>
                <a:ea typeface="Montserrat" pitchFamily="34" charset="-122"/>
                <a:cs typeface="Montserrat" pitchFamily="34" charset="-120"/>
              </a:rPr>
              <a:t>0.0</a:t>
            </a:r>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 score are almost completely rejected. Credit history is the dominant signal.</a:t>
            </a:r>
            <a:endParaRPr lang="en-US" sz="650" dirty="0"/>
          </a:p>
        </p:txBody>
      </p:sp>
      <p:pic>
        <p:nvPicPr>
          <p:cNvPr id="10" name="Image 0" descr="preencoded.png">    </p:cNvPr>
          <p:cNvPicPr>
            <a:picLocks noChangeAspect="1"/>
          </p:cNvPicPr>
          <p:nvPr/>
        </p:nvPicPr>
        <p:blipFill>
          <a:blip r:embed="rId1"/>
          <a:stretch>
            <a:fillRect/>
          </a:stretch>
        </p:blipFill>
        <p:spPr>
          <a:xfrm>
            <a:off x="1285875" y="1870100"/>
            <a:ext cx="6572250" cy="2720057"/>
          </a:xfrm>
          <a:prstGeom prst="rect">
            <a:avLst/>
          </a:prstGeom>
        </p:spPr>
      </p:pic>
      <p:sp>
        <p:nvSpPr>
          <p:cNvPr id="11" name="Text 8"/>
          <p:cNvSpPr/>
          <p:nvPr/>
        </p:nvSpPr>
        <p:spPr>
          <a:xfrm>
            <a:off x="1441410" y="2624943"/>
            <a:ext cx="1062034" cy="364265"/>
          </a:xfrm>
          <a:prstGeom prst="rect">
            <a:avLst/>
          </a:prstGeom>
          <a:noFill/>
          <a:ln/>
        </p:spPr>
        <p:txBody>
          <a:bodyPr wrap="square" lIns="0" tIns="0" rIns="0" bIns="0" rtlCol="0" anchor="t">
            <a:normAutofit/>
          </a:bodyPr>
          <a:lstStyle/>
          <a:p>
            <a:pPr algn="l" indent="0" marL="0">
              <a:lnSpc>
                <a:spcPct val="104000"/>
              </a:lnSpc>
              <a:buNone/>
            </a:pPr>
            <a:r>
              <a:rPr lang="en-US" sz="1100" dirty="0">
                <a:solidFill>
                  <a:srgbClr val="E5DCE6"/>
                </a:solidFill>
                <a:latin typeface="Bricolage Grotesque ExtraBold" pitchFamily="34" charset="0"/>
                <a:ea typeface="Bricolage Grotesque ExtraBold" pitchFamily="34" charset="-122"/>
                <a:cs typeface="Bricolage Grotesque ExtraBold" pitchFamily="34" charset="-120"/>
              </a:rPr>
              <a:t>Income Comparison</a:t>
            </a:r>
            <a:endParaRPr lang="en-US" sz="1100" dirty="0"/>
          </a:p>
        </p:txBody>
      </p:sp>
      <p:sp>
        <p:nvSpPr>
          <p:cNvPr id="12" name="Text 9"/>
          <p:cNvSpPr/>
          <p:nvPr/>
        </p:nvSpPr>
        <p:spPr>
          <a:xfrm>
            <a:off x="1441410" y="3041014"/>
            <a:ext cx="1062034" cy="608625"/>
          </a:xfrm>
          <a:prstGeom prst="rect">
            <a:avLst/>
          </a:prstGeom>
          <a:noFill/>
          <a:ln/>
        </p:spPr>
        <p:txBody>
          <a:bodyPr wrap="square" lIns="0" tIns="0" rIns="0" bIns="0" rtlCol="0" anchor="t">
            <a:normAutofit/>
          </a:bodyPr>
          <a:lstStyle/>
          <a:p>
            <a:pPr algn="l" indent="0" marL="0">
              <a:lnSpc>
                <a:spcPct val="87000"/>
              </a:lnSpc>
              <a:buNone/>
            </a:pPr>
            <a:r>
              <a:rPr lang="en-US" sz="900" dirty="0">
                <a:solidFill>
                  <a:srgbClr val="E5DCE6"/>
                </a:solidFill>
                <a:latin typeface="Montserrat" pitchFamily="34" charset="0"/>
                <a:ea typeface="Montserrat" pitchFamily="34" charset="-122"/>
                <a:cs typeface="Montserrat" pitchFamily="34" charset="-120"/>
              </a:rPr>
              <a:t>Median income nearly identical for approved and rejected applicants</a:t>
            </a:r>
            <a:endParaRPr lang="en-US" sz="900" dirty="0"/>
          </a:p>
        </p:txBody>
      </p:sp>
      <p:sp>
        <p:nvSpPr>
          <p:cNvPr id="13" name="Text 10"/>
          <p:cNvSpPr/>
          <p:nvPr/>
        </p:nvSpPr>
        <p:spPr>
          <a:xfrm>
            <a:off x="6635012" y="2624943"/>
            <a:ext cx="1062033" cy="364265"/>
          </a:xfrm>
          <a:prstGeom prst="rect">
            <a:avLst/>
          </a:prstGeom>
          <a:noFill/>
          <a:ln/>
        </p:spPr>
        <p:txBody>
          <a:bodyPr wrap="square" lIns="0" tIns="0" rIns="0" bIns="0" rtlCol="0" anchor="t">
            <a:normAutofit/>
          </a:bodyPr>
          <a:lstStyle/>
          <a:p>
            <a:pPr algn="l" indent="0" marL="0">
              <a:lnSpc>
                <a:spcPct val="104000"/>
              </a:lnSpc>
              <a:buNone/>
            </a:pPr>
            <a:r>
              <a:rPr lang="en-US" sz="1100" dirty="0">
                <a:solidFill>
                  <a:srgbClr val="E5DCE6"/>
                </a:solidFill>
                <a:latin typeface="Bricolage Grotesque ExtraBold" pitchFamily="34" charset="0"/>
                <a:ea typeface="Bricolage Grotesque ExtraBold" pitchFamily="34" charset="-122"/>
                <a:cs typeface="Bricolage Grotesque ExtraBold" pitchFamily="34" charset="-120"/>
              </a:rPr>
              <a:t>Credit History Impact</a:t>
            </a:r>
            <a:endParaRPr lang="en-US" sz="1100" dirty="0"/>
          </a:p>
        </p:txBody>
      </p:sp>
      <p:sp>
        <p:nvSpPr>
          <p:cNvPr id="14" name="Text 11"/>
          <p:cNvSpPr/>
          <p:nvPr/>
        </p:nvSpPr>
        <p:spPr>
          <a:xfrm>
            <a:off x="6635012" y="3041014"/>
            <a:ext cx="1062033" cy="486900"/>
          </a:xfrm>
          <a:prstGeom prst="rect">
            <a:avLst/>
          </a:prstGeom>
          <a:noFill/>
          <a:ln/>
        </p:spPr>
        <p:txBody>
          <a:bodyPr wrap="square" lIns="0" tIns="0" rIns="0" bIns="0" rtlCol="0" anchor="t">
            <a:normAutofit/>
          </a:bodyPr>
          <a:lstStyle/>
          <a:p>
            <a:pPr algn="l" indent="0" marL="0">
              <a:lnSpc>
                <a:spcPct val="87000"/>
              </a:lnSpc>
              <a:buNone/>
            </a:pPr>
            <a:r>
              <a:rPr lang="en-US" sz="900" dirty="0">
                <a:solidFill>
                  <a:srgbClr val="E5DCE6"/>
                </a:solidFill>
                <a:latin typeface="Montserrat" pitchFamily="34" charset="0"/>
                <a:ea typeface="Montserrat" pitchFamily="34" charset="-122"/>
                <a:cs typeface="Montserrat" pitchFamily="34" charset="-120"/>
              </a:rPr>
              <a:t>Score 1.0 → near-certain approval; 0.0 → near-certain rejection</a:t>
            </a:r>
            <a:endParaRPr lang="en-US" sz="900" dirty="0"/>
          </a:p>
        </p:txBody>
      </p:sp>
      <p:sp>
        <p:nvSpPr>
          <p:cNvPr id="15" name="Text 12"/>
          <p:cNvSpPr/>
          <p:nvPr/>
        </p:nvSpPr>
        <p:spPr>
          <a:xfrm>
            <a:off x="1285875" y="4653111"/>
            <a:ext cx="7029450" cy="111472"/>
          </a:xfrm>
          <a:prstGeom prst="rect">
            <a:avLst/>
          </a:prstGeom>
          <a:noFill/>
          <a:ln/>
        </p:spPr>
        <p:txBody>
          <a:bodyPr wrap="none" lIns="0" tIns="0" rIns="0" bIns="0" rtlCol="0" anchor="t"/>
          <a:lstStyle/>
          <a:p>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Together, these visuals confirm that past repayment compliance overwhelmingly outweighs raw financial capacity in loan approval decisions.</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766762"/>
            <a:ext cx="886941" cy="242739"/>
          </a:xfrm>
          <a:prstGeom prst="roundRect">
            <a:avLst>
              <a:gd name="adj" fmla="val 17171"/>
            </a:avLst>
          </a:prstGeom>
          <a:noFill/>
          <a:ln w="4763">
            <a:solidFill>
              <a:srgbClr val="EEAEF6"/>
            </a:solidFill>
            <a:prstDash val="solid"/>
          </a:ln>
        </p:spPr>
      </p:sp>
      <p:sp>
        <p:nvSpPr>
          <p:cNvPr id="3" name="Text 1"/>
          <p:cNvSpPr/>
          <p:nvPr/>
        </p:nvSpPr>
        <p:spPr>
          <a:xfrm>
            <a:off x="575295" y="808732"/>
            <a:ext cx="1185788" cy="158800"/>
          </a:xfrm>
          <a:prstGeom prst="rect">
            <a:avLst/>
          </a:prstGeom>
          <a:noFill/>
          <a:ln/>
        </p:spPr>
        <p:txBody>
          <a:bodyPr wrap="none" lIns="0" tIns="0" rIns="0" bIns="0" rtlCol="0" anchor="t"/>
          <a:lstStyle/>
          <a:p>
            <a:pPr algn="l" indent="0" marL="0">
              <a:lnSpc>
                <a:spcPct val="133000"/>
              </a:lnSpc>
              <a:buNone/>
            </a:pPr>
            <a:r>
              <a:rPr lang="en-US" sz="750" dirty="0">
                <a:solidFill>
                  <a:srgbClr val="EEAEF6"/>
                </a:solidFill>
                <a:latin typeface="Montserrat" pitchFamily="34" charset="0"/>
                <a:ea typeface="Montserrat" pitchFamily="34" charset="-122"/>
                <a:cs typeface="Montserrat" pitchFamily="34" charset="-120"/>
              </a:rPr>
              <a:t>KEY FINDINGS</a:t>
            </a:r>
            <a:endParaRPr lang="en-US" sz="750" dirty="0"/>
          </a:p>
        </p:txBody>
      </p:sp>
      <p:sp>
        <p:nvSpPr>
          <p:cNvPr id="4" name="Text 2"/>
          <p:cNvSpPr/>
          <p:nvPr/>
        </p:nvSpPr>
        <p:spPr>
          <a:xfrm>
            <a:off x="496119" y="1059061"/>
            <a:ext cx="5190381" cy="387548"/>
          </a:xfrm>
          <a:prstGeom prst="rect">
            <a:avLst/>
          </a:prstGeom>
          <a:noFill/>
          <a:ln/>
        </p:spPr>
        <p:txBody>
          <a:bodyPr wrap="none" lIns="0" tIns="0" rIns="0" bIns="0" rtlCol="0" anchor="t"/>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What the Data Actually Tells Us</a:t>
            </a:r>
            <a:endParaRPr lang="en-US" sz="2400" dirty="0"/>
          </a:p>
        </p:txBody>
      </p:sp>
      <p:sp>
        <p:nvSpPr>
          <p:cNvPr id="5" name="Shape 3"/>
          <p:cNvSpPr/>
          <p:nvPr/>
        </p:nvSpPr>
        <p:spPr>
          <a:xfrm>
            <a:off x="496119" y="1632645"/>
            <a:ext cx="4013895" cy="1310060"/>
          </a:xfrm>
          <a:prstGeom prst="roundRect">
            <a:avLst>
              <a:gd name="adj" fmla="val 3977"/>
            </a:avLst>
          </a:prstGeom>
          <a:solidFill>
            <a:srgbClr val="282D5E"/>
          </a:solidFill>
          <a:ln/>
        </p:spPr>
      </p:sp>
      <p:sp>
        <p:nvSpPr>
          <p:cNvPr id="6" name="Text 4"/>
          <p:cNvSpPr/>
          <p:nvPr/>
        </p:nvSpPr>
        <p:spPr>
          <a:xfrm>
            <a:off x="620092" y="1756618"/>
            <a:ext cx="1618283"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Credit History is King</a:t>
            </a:r>
            <a:endParaRPr lang="en-US" sz="1200" dirty="0"/>
          </a:p>
        </p:txBody>
      </p:sp>
      <p:sp>
        <p:nvSpPr>
          <p:cNvPr id="7" name="Text 5"/>
          <p:cNvSpPr/>
          <p:nvPr/>
        </p:nvSpPr>
        <p:spPr>
          <a:xfrm>
            <a:off x="620092" y="2024881"/>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Past repayment compliance is the single most powerful driver of approval. Demographics and income are secondary signals — a finding that should directly reshape underwriting policy.</a:t>
            </a:r>
            <a:endParaRPr lang="en-US" sz="950" dirty="0"/>
          </a:p>
        </p:txBody>
      </p:sp>
      <p:sp>
        <p:nvSpPr>
          <p:cNvPr id="8" name="Shape 6"/>
          <p:cNvSpPr/>
          <p:nvPr/>
        </p:nvSpPr>
        <p:spPr>
          <a:xfrm>
            <a:off x="4633987" y="1632645"/>
            <a:ext cx="4013895" cy="1310060"/>
          </a:xfrm>
          <a:prstGeom prst="roundRect">
            <a:avLst>
              <a:gd name="adj" fmla="val 3977"/>
            </a:avLst>
          </a:prstGeom>
          <a:solidFill>
            <a:srgbClr val="282D5E"/>
          </a:solidFill>
          <a:ln/>
        </p:spPr>
      </p:sp>
      <p:sp>
        <p:nvSpPr>
          <p:cNvPr id="9" name="Text 7"/>
          <p:cNvSpPr/>
          <p:nvPr/>
        </p:nvSpPr>
        <p:spPr>
          <a:xfrm>
            <a:off x="4757961" y="1756618"/>
            <a:ext cx="2000027"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Income is a Noise Variable</a:t>
            </a:r>
            <a:endParaRPr lang="en-US" sz="1200" dirty="0"/>
          </a:p>
        </p:txBody>
      </p:sp>
      <p:sp>
        <p:nvSpPr>
          <p:cNvPr id="10" name="Text 8"/>
          <p:cNvSpPr/>
          <p:nvPr/>
        </p:nvSpPr>
        <p:spPr>
          <a:xfrm>
            <a:off x="4757961" y="2024881"/>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Raw income is hyper-skewed by outliers and shows near-identical medians across approved and rejected groups. Without log-transformation, it distorts rather than informs risk scores.</a:t>
            </a:r>
            <a:endParaRPr lang="en-US" sz="950" dirty="0"/>
          </a:p>
        </p:txBody>
      </p:sp>
      <p:sp>
        <p:nvSpPr>
          <p:cNvPr id="11" name="Shape 9"/>
          <p:cNvSpPr/>
          <p:nvPr/>
        </p:nvSpPr>
        <p:spPr>
          <a:xfrm>
            <a:off x="496119" y="3066678"/>
            <a:ext cx="4013895" cy="1310060"/>
          </a:xfrm>
          <a:prstGeom prst="roundRect">
            <a:avLst>
              <a:gd name="adj" fmla="val 3977"/>
            </a:avLst>
          </a:prstGeom>
          <a:solidFill>
            <a:srgbClr val="282D5E"/>
          </a:solidFill>
          <a:ln/>
        </p:spPr>
      </p:sp>
      <p:sp>
        <p:nvSpPr>
          <p:cNvPr id="12" name="Text 10"/>
          <p:cNvSpPr/>
          <p:nvPr/>
        </p:nvSpPr>
        <p:spPr>
          <a:xfrm>
            <a:off x="620092" y="3190652"/>
            <a:ext cx="2525837"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Demographic Imbalance is a Risk</a:t>
            </a:r>
            <a:endParaRPr lang="en-US" sz="1200" dirty="0"/>
          </a:p>
        </p:txBody>
      </p:sp>
      <p:sp>
        <p:nvSpPr>
          <p:cNvPr id="13" name="Text 11"/>
          <p:cNvSpPr/>
          <p:nvPr/>
        </p:nvSpPr>
        <p:spPr>
          <a:xfrm>
            <a:off x="620092" y="3458914"/>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Over 80% of historical applications belong to a single demographic. Models trained on this data risk encoding systemic bias unless fairness constraints are explicitly enforced.</a:t>
            </a:r>
            <a:endParaRPr lang="en-US" sz="950" dirty="0"/>
          </a:p>
        </p:txBody>
      </p:sp>
      <p:sp>
        <p:nvSpPr>
          <p:cNvPr id="14" name="Shape 12"/>
          <p:cNvSpPr/>
          <p:nvPr/>
        </p:nvSpPr>
        <p:spPr>
          <a:xfrm>
            <a:off x="4633987" y="3066678"/>
            <a:ext cx="4013895" cy="1310060"/>
          </a:xfrm>
          <a:prstGeom prst="roundRect">
            <a:avLst>
              <a:gd name="adj" fmla="val 3977"/>
            </a:avLst>
          </a:prstGeom>
          <a:solidFill>
            <a:srgbClr val="282D5E"/>
          </a:solidFill>
          <a:ln/>
        </p:spPr>
      </p:sp>
      <p:sp>
        <p:nvSpPr>
          <p:cNvPr id="15" name="Text 13"/>
          <p:cNvSpPr/>
          <p:nvPr/>
        </p:nvSpPr>
        <p:spPr>
          <a:xfrm>
            <a:off x="4757961" y="3190652"/>
            <a:ext cx="2354387"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Approval Baseline is Deceptive</a:t>
            </a:r>
            <a:endParaRPr lang="en-US" sz="1200" dirty="0"/>
          </a:p>
        </p:txBody>
      </p:sp>
      <p:sp>
        <p:nvSpPr>
          <p:cNvPr id="16" name="Text 14"/>
          <p:cNvSpPr/>
          <p:nvPr/>
        </p:nvSpPr>
        <p:spPr>
          <a:xfrm>
            <a:off x="4757961" y="3458914"/>
            <a:ext cx="376594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A 68.7% approval rate creates a naive baseline that inflates model accuracy. Class weighting or stratified sampling is required to build a genuinely predictive classifier.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43550" y="0"/>
            <a:ext cx="3600450" cy="5143500"/>
          </a:xfrm>
          <a:prstGeom prst="rect">
            <a:avLst/>
          </a:prstGeom>
        </p:spPr>
      </p:pic>
      <p:sp>
        <p:nvSpPr>
          <p:cNvPr id="3" name="Shape 0"/>
          <p:cNvSpPr/>
          <p:nvPr/>
        </p:nvSpPr>
        <p:spPr>
          <a:xfrm>
            <a:off x="496119" y="425648"/>
            <a:ext cx="844972" cy="233214"/>
          </a:xfrm>
          <a:prstGeom prst="roundRect">
            <a:avLst>
              <a:gd name="adj" fmla="val 17872"/>
            </a:avLst>
          </a:prstGeom>
          <a:solidFill>
            <a:srgbClr val="3E0845"/>
          </a:solidFill>
          <a:ln/>
        </p:spPr>
      </p:sp>
      <p:sp>
        <p:nvSpPr>
          <p:cNvPr id="4" name="Text 1"/>
          <p:cNvSpPr/>
          <p:nvPr/>
        </p:nvSpPr>
        <p:spPr>
          <a:xfrm>
            <a:off x="570533" y="462855"/>
            <a:ext cx="1153344" cy="158800"/>
          </a:xfrm>
          <a:prstGeom prst="rect">
            <a:avLst/>
          </a:prstGeom>
          <a:noFill/>
          <a:ln/>
        </p:spPr>
        <p:txBody>
          <a:bodyPr wrap="none" lIns="0" tIns="0" rIns="0" bIns="0" rtlCol="0" anchor="t"/>
          <a:lstStyle/>
          <a:p>
            <a:pPr algn="l" indent="0" marL="0">
              <a:lnSpc>
                <a:spcPct val="133000"/>
              </a:lnSpc>
              <a:buNone/>
            </a:pPr>
            <a:r>
              <a:rPr lang="en-US" sz="750" dirty="0">
                <a:solidFill>
                  <a:srgbClr val="E5DCE6"/>
                </a:solidFill>
                <a:latin typeface="Montserrat" pitchFamily="34" charset="0"/>
                <a:ea typeface="Montserrat" pitchFamily="34" charset="-122"/>
                <a:cs typeface="Montserrat" pitchFamily="34" charset="-120"/>
              </a:rPr>
              <a:t>ACTION PLAN</a:t>
            </a:r>
            <a:endParaRPr lang="en-US" sz="750" dirty="0"/>
          </a:p>
        </p:txBody>
      </p:sp>
      <p:sp>
        <p:nvSpPr>
          <p:cNvPr id="5" name="Text 2"/>
          <p:cNvSpPr/>
          <p:nvPr/>
        </p:nvSpPr>
        <p:spPr>
          <a:xfrm>
            <a:off x="496119" y="708422"/>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Business Summary &amp; Action Plan</a:t>
            </a:r>
            <a:endParaRPr lang="en-US" sz="2400" dirty="0"/>
          </a:p>
        </p:txBody>
      </p:sp>
      <p:sp>
        <p:nvSpPr>
          <p:cNvPr id="6" name="Shape 3"/>
          <p:cNvSpPr/>
          <p:nvPr/>
        </p:nvSpPr>
        <p:spPr>
          <a:xfrm>
            <a:off x="496119" y="1669554"/>
            <a:ext cx="279053" cy="279053"/>
          </a:xfrm>
          <a:prstGeom prst="roundRect">
            <a:avLst>
              <a:gd name="adj" fmla="val 18670"/>
            </a:avLst>
          </a:prstGeom>
          <a:solidFill>
            <a:srgbClr val="282D5E"/>
          </a:solidFill>
          <a:ln/>
        </p:spPr>
      </p:sp>
      <p:sp>
        <p:nvSpPr>
          <p:cNvPr id="7" name="Text 4"/>
          <p:cNvSpPr/>
          <p:nvPr/>
        </p:nvSpPr>
        <p:spPr>
          <a:xfrm>
            <a:off x="542627" y="1692808"/>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E5DCE6"/>
                </a:solidFill>
                <a:latin typeface="Bricolage Grotesque ExtraBold" pitchFamily="34" charset="0"/>
                <a:ea typeface="Bricolage Grotesque ExtraBold" pitchFamily="34" charset="-122"/>
                <a:cs typeface="Bricolage Grotesque ExtraBold" pitchFamily="34" charset="-120"/>
              </a:rPr>
              <a:t>1</a:t>
            </a:r>
            <a:endParaRPr lang="en-US" sz="1450" dirty="0"/>
          </a:p>
        </p:txBody>
      </p:sp>
      <p:sp>
        <p:nvSpPr>
          <p:cNvPr id="8" name="Text 5"/>
          <p:cNvSpPr/>
          <p:nvPr/>
        </p:nvSpPr>
        <p:spPr>
          <a:xfrm>
            <a:off x="899145" y="1712193"/>
            <a:ext cx="1880815"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Automate Credit History Triage</a:t>
            </a:r>
            <a:endParaRPr lang="en-US" sz="1200" dirty="0"/>
          </a:p>
        </p:txBody>
      </p:sp>
      <p:sp>
        <p:nvSpPr>
          <p:cNvPr id="9" name="Text 6"/>
          <p:cNvSpPr/>
          <p:nvPr/>
        </p:nvSpPr>
        <p:spPr>
          <a:xfrm>
            <a:off x="899145" y="2174304"/>
            <a:ext cx="1880815"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Credit history is the most important factor in approval decisions. Use it as the first screening step so strong applications move forward quickly and staff can focus time where it matters most.</a:t>
            </a:r>
            <a:endParaRPr lang="en-US" sz="950" dirty="0"/>
          </a:p>
        </p:txBody>
      </p:sp>
      <p:sp>
        <p:nvSpPr>
          <p:cNvPr id="10" name="Shape 7"/>
          <p:cNvSpPr/>
          <p:nvPr/>
        </p:nvSpPr>
        <p:spPr>
          <a:xfrm>
            <a:off x="2934965" y="1669554"/>
            <a:ext cx="279053" cy="279053"/>
          </a:xfrm>
          <a:prstGeom prst="roundRect">
            <a:avLst>
              <a:gd name="adj" fmla="val 18670"/>
            </a:avLst>
          </a:prstGeom>
          <a:solidFill>
            <a:srgbClr val="282D5E"/>
          </a:solidFill>
          <a:ln/>
        </p:spPr>
      </p:sp>
      <p:sp>
        <p:nvSpPr>
          <p:cNvPr id="11" name="Text 8"/>
          <p:cNvSpPr/>
          <p:nvPr/>
        </p:nvSpPr>
        <p:spPr>
          <a:xfrm>
            <a:off x="2981474" y="1692808"/>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E5DCE6"/>
                </a:solidFill>
                <a:latin typeface="Bricolage Grotesque ExtraBold" pitchFamily="34" charset="0"/>
                <a:ea typeface="Bricolage Grotesque ExtraBold" pitchFamily="34" charset="-122"/>
                <a:cs typeface="Bricolage Grotesque ExtraBold" pitchFamily="34" charset="-120"/>
              </a:rPr>
              <a:t>2</a:t>
            </a:r>
            <a:endParaRPr lang="en-US" sz="1450" dirty="0"/>
          </a:p>
        </p:txBody>
      </p:sp>
      <p:sp>
        <p:nvSpPr>
          <p:cNvPr id="12" name="Text 9"/>
          <p:cNvSpPr/>
          <p:nvPr/>
        </p:nvSpPr>
        <p:spPr>
          <a:xfrm>
            <a:off x="3337992" y="1712193"/>
            <a:ext cx="1880890"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Standardize Income Review</a:t>
            </a:r>
            <a:endParaRPr lang="en-US" sz="1200" dirty="0"/>
          </a:p>
        </p:txBody>
      </p:sp>
      <p:sp>
        <p:nvSpPr>
          <p:cNvPr id="13" name="Text 10"/>
          <p:cNvSpPr/>
          <p:nvPr/>
        </p:nvSpPr>
        <p:spPr>
          <a:xfrm>
            <a:off x="3337992" y="2174304"/>
            <a:ext cx="1880890"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Create a consistent way to review income across all applications. This helps staff make clearer decisions, reduces the impact of unusual cases, and improves fairness in the review process.</a:t>
            </a:r>
            <a:endParaRPr lang="en-US" sz="950" dirty="0"/>
          </a:p>
        </p:txBody>
      </p:sp>
      <p:sp>
        <p:nvSpPr>
          <p:cNvPr id="14" name="Shape 11"/>
          <p:cNvSpPr/>
          <p:nvPr/>
        </p:nvSpPr>
        <p:spPr>
          <a:xfrm>
            <a:off x="496119" y="3811563"/>
            <a:ext cx="279053" cy="279053"/>
          </a:xfrm>
          <a:prstGeom prst="roundRect">
            <a:avLst>
              <a:gd name="adj" fmla="val 18670"/>
            </a:avLst>
          </a:prstGeom>
          <a:solidFill>
            <a:srgbClr val="282D5E"/>
          </a:solidFill>
          <a:ln/>
        </p:spPr>
      </p:sp>
      <p:sp>
        <p:nvSpPr>
          <p:cNvPr id="15" name="Text 12"/>
          <p:cNvSpPr/>
          <p:nvPr/>
        </p:nvSpPr>
        <p:spPr>
          <a:xfrm>
            <a:off x="542627" y="3834817"/>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E5DCE6"/>
                </a:solidFill>
                <a:latin typeface="Bricolage Grotesque ExtraBold" pitchFamily="34" charset="0"/>
                <a:ea typeface="Bricolage Grotesque ExtraBold" pitchFamily="34" charset="-122"/>
                <a:cs typeface="Bricolage Grotesque ExtraBold" pitchFamily="34" charset="-120"/>
              </a:rPr>
              <a:t>3</a:t>
            </a:r>
            <a:endParaRPr lang="en-US" sz="1450" dirty="0"/>
          </a:p>
        </p:txBody>
      </p:sp>
      <p:sp>
        <p:nvSpPr>
          <p:cNvPr id="16" name="Text 13"/>
          <p:cNvSpPr/>
          <p:nvPr/>
        </p:nvSpPr>
        <p:spPr>
          <a:xfrm>
            <a:off x="899145" y="3854202"/>
            <a:ext cx="2198340"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Address Demographic Slices</a:t>
            </a:r>
            <a:endParaRPr lang="en-US" sz="1200" dirty="0"/>
          </a:p>
        </p:txBody>
      </p:sp>
      <p:sp>
        <p:nvSpPr>
          <p:cNvPr id="17" name="Text 14"/>
          <p:cNvSpPr/>
          <p:nvPr/>
        </p:nvSpPr>
        <p:spPr>
          <a:xfrm>
            <a:off x="899145" y="4122465"/>
            <a:ext cx="4319736"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Make the process fairer by broadening outreach and reviewing policies that may limit who applies. A more balanced applicant pool supports better market reach and more equitable decisions.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1362298" y="385167"/>
            <a:ext cx="505048" cy="144587"/>
          </a:xfrm>
          <a:prstGeom prst="roundRect">
            <a:avLst>
              <a:gd name="adj" fmla="val 18918"/>
            </a:avLst>
          </a:prstGeom>
          <a:noFill/>
          <a:ln w="4763">
            <a:solidFill>
              <a:srgbClr val="EEAEF6"/>
            </a:solidFill>
            <a:prstDash val="solid"/>
          </a:ln>
        </p:spPr>
      </p:sp>
      <p:sp>
        <p:nvSpPr>
          <p:cNvPr id="3" name="Text 1"/>
          <p:cNvSpPr/>
          <p:nvPr/>
        </p:nvSpPr>
        <p:spPr>
          <a:xfrm>
            <a:off x="1415876" y="414337"/>
            <a:ext cx="855092" cy="86246"/>
          </a:xfrm>
          <a:prstGeom prst="rect">
            <a:avLst/>
          </a:prstGeom>
          <a:noFill/>
          <a:ln/>
        </p:spPr>
        <p:txBody>
          <a:bodyPr wrap="none" lIns="0" tIns="0" rIns="0" bIns="0" rtlCol="0" anchor="t"/>
          <a:lstStyle/>
          <a:p>
            <a:pPr algn="l" indent="0" marL="0">
              <a:lnSpc>
                <a:spcPct val="110000"/>
              </a:lnSpc>
              <a:buNone/>
            </a:pPr>
            <a:r>
              <a:rPr lang="en-US" sz="500" dirty="0">
                <a:solidFill>
                  <a:srgbClr val="EEAEF6"/>
                </a:solidFill>
                <a:latin typeface="Montserrat" pitchFamily="34" charset="0"/>
                <a:ea typeface="Montserrat" pitchFamily="34" charset="-122"/>
                <a:cs typeface="Montserrat" pitchFamily="34" charset="-120"/>
              </a:rPr>
              <a:t>NEXT STEPS</a:t>
            </a:r>
            <a:endParaRPr lang="en-US" sz="500" dirty="0"/>
          </a:p>
        </p:txBody>
      </p:sp>
      <p:sp>
        <p:nvSpPr>
          <p:cNvPr id="4" name="Text 2"/>
          <p:cNvSpPr/>
          <p:nvPr/>
        </p:nvSpPr>
        <p:spPr>
          <a:xfrm>
            <a:off x="1362298" y="551111"/>
            <a:ext cx="4747096" cy="254347"/>
          </a:xfrm>
          <a:prstGeom prst="rect">
            <a:avLst/>
          </a:prstGeom>
          <a:noFill/>
          <a:ln/>
        </p:spPr>
        <p:txBody>
          <a:bodyPr wrap="none" lIns="0" tIns="0" rIns="0" bIns="0" rtlCol="0" anchor="t"/>
          <a:lstStyle/>
          <a:p>
            <a:pPr algn="l" indent="0" marL="0">
              <a:lnSpc>
                <a:spcPct val="104000"/>
              </a:lnSpc>
              <a:buNone/>
            </a:pPr>
            <a:r>
              <a:rPr lang="en-US" sz="1600" dirty="0">
                <a:solidFill>
                  <a:srgbClr val="EEAEF6"/>
                </a:solidFill>
                <a:latin typeface="Bricolage Grotesque ExtraBold" pitchFamily="34" charset="0"/>
                <a:ea typeface="Bricolage Grotesque ExtraBold" pitchFamily="34" charset="-122"/>
                <a:cs typeface="Bricolage Grotesque ExtraBold" pitchFamily="34" charset="-120"/>
              </a:rPr>
              <a:t>From EDA to Production: The Path Forward</a:t>
            </a:r>
            <a:endParaRPr lang="en-US" sz="1600" dirty="0"/>
          </a:p>
        </p:txBody>
      </p:sp>
      <p:pic>
        <p:nvPicPr>
          <p:cNvPr id="5" name="Image 0" descr="preencoded.png">    </p:cNvPr>
          <p:cNvPicPr>
            <a:picLocks noChangeAspect="1"/>
          </p:cNvPicPr>
          <p:nvPr/>
        </p:nvPicPr>
        <p:blipFill>
          <a:blip r:embed="rId1"/>
          <a:stretch>
            <a:fillRect/>
          </a:stretch>
        </p:blipFill>
        <p:spPr>
          <a:xfrm>
            <a:off x="1362298" y="885527"/>
            <a:ext cx="6419404" cy="2815903"/>
          </a:xfrm>
          <a:prstGeom prst="rect">
            <a:avLst/>
          </a:prstGeom>
        </p:spPr>
      </p:pic>
      <p:sp>
        <p:nvSpPr>
          <p:cNvPr id="6" name="Text 3"/>
          <p:cNvSpPr/>
          <p:nvPr/>
        </p:nvSpPr>
        <p:spPr>
          <a:xfrm>
            <a:off x="3307734" y="2302901"/>
            <a:ext cx="970208" cy="521150"/>
          </a:xfrm>
          <a:prstGeom prst="rect">
            <a:avLst/>
          </a:prstGeom>
          <a:noFill/>
          <a:ln/>
        </p:spPr>
        <p:txBody>
          <a:bodyPr wrap="square" lIns="0" tIns="0" rIns="0" bIns="0" rtlCol="0" anchor="t">
            <a:normAutofit/>
          </a:bodyPr>
          <a:lstStyle/>
          <a:p>
            <a:pPr algn="ctr" indent="0" marL="0">
              <a:lnSpc>
                <a:spcPct val="104000"/>
              </a:lnSpc>
              <a:buNone/>
            </a:pPr>
            <a:r>
              <a:rPr lang="en-US" sz="1050" dirty="0">
                <a:solidFill>
                  <a:srgbClr val="EEAEF6"/>
                </a:solidFill>
                <a:latin typeface="Bricolage Grotesque ExtraBold" pitchFamily="34" charset="0"/>
                <a:ea typeface="Bricolage Grotesque ExtraBold" pitchFamily="34" charset="-122"/>
                <a:cs typeface="Bricolage Grotesque ExtraBold" pitchFamily="34" charset="-120"/>
              </a:rPr>
              <a:t>Identify Key Decision Factors</a:t>
            </a:r>
            <a:endParaRPr lang="en-US" sz="1050" dirty="0"/>
          </a:p>
        </p:txBody>
      </p:sp>
      <p:sp>
        <p:nvSpPr>
          <p:cNvPr id="7" name="Text 4"/>
          <p:cNvSpPr/>
          <p:nvPr/>
        </p:nvSpPr>
        <p:spPr>
          <a:xfrm>
            <a:off x="3307734" y="2873464"/>
            <a:ext cx="970208" cy="575195"/>
          </a:xfrm>
          <a:prstGeom prst="rect">
            <a:avLst/>
          </a:prstGeom>
          <a:noFill/>
          <a:ln/>
        </p:spPr>
        <p:txBody>
          <a:bodyPr wrap="square" lIns="0" tIns="0" rIns="0" bIns="0" rtlCol="0" anchor="t">
            <a:normAutofit/>
          </a:bodyPr>
          <a:lstStyle/>
          <a:p>
            <a:pPr algn="ctr" indent="0" marL="0">
              <a:lnSpc>
                <a:spcPct val="86000"/>
              </a:lnSpc>
              <a:buNone/>
            </a:pPr>
            <a:r>
              <a:rPr lang="en-US" sz="850" dirty="0">
                <a:solidFill>
                  <a:srgbClr val="E5DCE6"/>
                </a:solidFill>
                <a:latin typeface="Montserrat" pitchFamily="34" charset="0"/>
                <a:ea typeface="Montserrat" pitchFamily="34" charset="-122"/>
                <a:cs typeface="Montserrat" pitchFamily="34" charset="-120"/>
              </a:rPr>
              <a:t>Focus on the information that matters most for approval decisions.</a:t>
            </a:r>
            <a:endParaRPr lang="en-US" sz="850" dirty="0"/>
          </a:p>
        </p:txBody>
      </p:sp>
      <p:sp>
        <p:nvSpPr>
          <p:cNvPr id="8" name="Text 5"/>
          <p:cNvSpPr/>
          <p:nvPr/>
        </p:nvSpPr>
        <p:spPr>
          <a:xfrm>
            <a:off x="6389854" y="2591657"/>
            <a:ext cx="970208" cy="347433"/>
          </a:xfrm>
          <a:prstGeom prst="rect">
            <a:avLst/>
          </a:prstGeom>
          <a:noFill/>
          <a:ln/>
        </p:spPr>
        <p:txBody>
          <a:bodyPr wrap="square" lIns="0" tIns="0" rIns="0" bIns="0" rtlCol="0" anchor="t">
            <a:normAutofit/>
          </a:bodyPr>
          <a:lstStyle/>
          <a:p>
            <a:pPr algn="ctr" indent="0" marL="0">
              <a:lnSpc>
                <a:spcPct val="104000"/>
              </a:lnSpc>
              <a:buNone/>
            </a:pPr>
            <a:r>
              <a:rPr lang="en-US" sz="1050" dirty="0">
                <a:solidFill>
                  <a:srgbClr val="EEAEF6"/>
                </a:solidFill>
                <a:latin typeface="Bricolage Grotesque ExtraBold" pitchFamily="34" charset="0"/>
                <a:ea typeface="Bricolage Grotesque ExtraBold" pitchFamily="34" charset="-122"/>
                <a:cs typeface="Bricolage Grotesque ExtraBold" pitchFamily="34" charset="-120"/>
              </a:rPr>
              <a:t>Launch &amp; Review</a:t>
            </a:r>
            <a:endParaRPr lang="en-US" sz="1050" dirty="0"/>
          </a:p>
        </p:txBody>
      </p:sp>
      <p:sp>
        <p:nvSpPr>
          <p:cNvPr id="9" name="Text 6"/>
          <p:cNvSpPr/>
          <p:nvPr/>
        </p:nvSpPr>
        <p:spPr>
          <a:xfrm>
            <a:off x="6389854" y="2988503"/>
            <a:ext cx="970208" cy="460156"/>
          </a:xfrm>
          <a:prstGeom prst="rect">
            <a:avLst/>
          </a:prstGeom>
          <a:noFill/>
          <a:ln/>
        </p:spPr>
        <p:txBody>
          <a:bodyPr wrap="square" lIns="0" tIns="0" rIns="0" bIns="0" rtlCol="0" anchor="t">
            <a:normAutofit/>
          </a:bodyPr>
          <a:lstStyle/>
          <a:p>
            <a:pPr algn="ctr" indent="0" marL="0">
              <a:lnSpc>
                <a:spcPct val="86000"/>
              </a:lnSpc>
              <a:buNone/>
            </a:pPr>
            <a:r>
              <a:rPr lang="en-US" sz="850" dirty="0">
                <a:solidFill>
                  <a:srgbClr val="E5DCE6"/>
                </a:solidFill>
                <a:latin typeface="Montserrat" pitchFamily="34" charset="0"/>
                <a:ea typeface="Montserrat" pitchFamily="34" charset="-122"/>
                <a:cs typeface="Montserrat" pitchFamily="34" charset="-120"/>
              </a:rPr>
              <a:t>Put the process into practice and check regularly for fairness.</a:t>
            </a:r>
            <a:endParaRPr lang="en-US" sz="850" dirty="0"/>
          </a:p>
        </p:txBody>
      </p:sp>
      <p:sp>
        <p:nvSpPr>
          <p:cNvPr id="10" name="Text 7"/>
          <p:cNvSpPr/>
          <p:nvPr/>
        </p:nvSpPr>
        <p:spPr>
          <a:xfrm>
            <a:off x="1800645" y="1138613"/>
            <a:ext cx="970208" cy="347434"/>
          </a:xfrm>
          <a:prstGeom prst="rect">
            <a:avLst/>
          </a:prstGeom>
          <a:noFill/>
          <a:ln/>
        </p:spPr>
        <p:txBody>
          <a:bodyPr wrap="square" lIns="0" tIns="0" rIns="0" bIns="0" rtlCol="0" anchor="t">
            <a:normAutofit/>
          </a:bodyPr>
          <a:lstStyle/>
          <a:p>
            <a:pPr algn="ctr" indent="0" marL="0">
              <a:lnSpc>
                <a:spcPct val="104000"/>
              </a:lnSpc>
              <a:buNone/>
            </a:pPr>
            <a:r>
              <a:rPr lang="en-US" sz="1050" dirty="0">
                <a:solidFill>
                  <a:srgbClr val="EEAEF6"/>
                </a:solidFill>
                <a:latin typeface="Bricolage Grotesque ExtraBold" pitchFamily="34" charset="0"/>
                <a:ea typeface="Bricolage Grotesque ExtraBold" pitchFamily="34" charset="-122"/>
                <a:cs typeface="Bricolage Grotesque ExtraBold" pitchFamily="34" charset="-120"/>
              </a:rPr>
              <a:t>Organize &amp; Prepare Data</a:t>
            </a:r>
            <a:endParaRPr lang="en-US" sz="1050" dirty="0"/>
          </a:p>
        </p:txBody>
      </p:sp>
      <p:sp>
        <p:nvSpPr>
          <p:cNvPr id="11" name="Text 8"/>
          <p:cNvSpPr/>
          <p:nvPr/>
        </p:nvSpPr>
        <p:spPr>
          <a:xfrm>
            <a:off x="1800645" y="1535459"/>
            <a:ext cx="970208" cy="575195"/>
          </a:xfrm>
          <a:prstGeom prst="rect">
            <a:avLst/>
          </a:prstGeom>
          <a:noFill/>
          <a:ln/>
        </p:spPr>
        <p:txBody>
          <a:bodyPr wrap="square" lIns="0" tIns="0" rIns="0" bIns="0" rtlCol="0" anchor="t">
            <a:normAutofit/>
          </a:bodyPr>
          <a:lstStyle/>
          <a:p>
            <a:pPr algn="ctr" indent="0" marL="0">
              <a:lnSpc>
                <a:spcPct val="86000"/>
              </a:lnSpc>
              <a:buNone/>
            </a:pPr>
            <a:r>
              <a:rPr lang="en-US" sz="850" dirty="0">
                <a:solidFill>
                  <a:srgbClr val="E5DCE6"/>
                </a:solidFill>
                <a:latin typeface="Montserrat" pitchFamily="34" charset="0"/>
                <a:ea typeface="Montserrat" pitchFamily="34" charset="-122"/>
                <a:cs typeface="Montserrat" pitchFamily="34" charset="-120"/>
              </a:rPr>
              <a:t>Make sure records are complete, accurate, and ready for use.</a:t>
            </a:r>
            <a:endParaRPr lang="en-US" sz="850" dirty="0"/>
          </a:p>
        </p:txBody>
      </p:sp>
      <p:sp>
        <p:nvSpPr>
          <p:cNvPr id="12" name="Text 9"/>
          <p:cNvSpPr/>
          <p:nvPr/>
        </p:nvSpPr>
        <p:spPr>
          <a:xfrm>
            <a:off x="4870412" y="1138613"/>
            <a:ext cx="970208" cy="521150"/>
          </a:xfrm>
          <a:prstGeom prst="rect">
            <a:avLst/>
          </a:prstGeom>
          <a:noFill/>
          <a:ln/>
        </p:spPr>
        <p:txBody>
          <a:bodyPr wrap="square" lIns="0" tIns="0" rIns="0" bIns="0" rtlCol="0" anchor="t">
            <a:normAutofit/>
          </a:bodyPr>
          <a:lstStyle/>
          <a:p>
            <a:pPr algn="ctr" indent="0" marL="0">
              <a:lnSpc>
                <a:spcPct val="104000"/>
              </a:lnSpc>
              <a:buNone/>
            </a:pPr>
            <a:r>
              <a:rPr lang="en-US" sz="1050" dirty="0">
                <a:solidFill>
                  <a:srgbClr val="EEAEF6"/>
                </a:solidFill>
                <a:latin typeface="Bricolage Grotesque ExtraBold" pitchFamily="34" charset="0"/>
                <a:ea typeface="Bricolage Grotesque ExtraBold" pitchFamily="34" charset="-122"/>
                <a:cs typeface="Bricolage Grotesque ExtraBold" pitchFamily="34" charset="-120"/>
              </a:rPr>
              <a:t>Build Decision Rules</a:t>
            </a:r>
            <a:endParaRPr lang="en-US" sz="1050" dirty="0"/>
          </a:p>
        </p:txBody>
      </p:sp>
      <p:sp>
        <p:nvSpPr>
          <p:cNvPr id="13" name="Text 10"/>
          <p:cNvSpPr/>
          <p:nvPr/>
        </p:nvSpPr>
        <p:spPr>
          <a:xfrm>
            <a:off x="4870412" y="1709176"/>
            <a:ext cx="970208" cy="575195"/>
          </a:xfrm>
          <a:prstGeom prst="rect">
            <a:avLst/>
          </a:prstGeom>
          <a:noFill/>
          <a:ln/>
        </p:spPr>
        <p:txBody>
          <a:bodyPr wrap="square" lIns="0" tIns="0" rIns="0" bIns="0" rtlCol="0" anchor="t">
            <a:normAutofit/>
          </a:bodyPr>
          <a:lstStyle/>
          <a:p>
            <a:pPr algn="ctr" indent="0" marL="0">
              <a:lnSpc>
                <a:spcPct val="86000"/>
              </a:lnSpc>
              <a:buNone/>
            </a:pPr>
            <a:r>
              <a:rPr lang="en-US" sz="850" dirty="0">
                <a:solidFill>
                  <a:srgbClr val="E5DCE6"/>
                </a:solidFill>
                <a:latin typeface="Montserrat" pitchFamily="34" charset="0"/>
                <a:ea typeface="Montserrat" pitchFamily="34" charset="-122"/>
                <a:cs typeface="Montserrat" pitchFamily="34" charset="-120"/>
              </a:rPr>
              <a:t>Create clear, consistent criteria for evaluating applications.</a:t>
            </a:r>
            <a:endParaRPr lang="en-US" sz="850" dirty="0"/>
          </a:p>
        </p:txBody>
      </p:sp>
      <p:sp>
        <p:nvSpPr>
          <p:cNvPr id="14" name="Text 11"/>
          <p:cNvSpPr/>
          <p:nvPr/>
        </p:nvSpPr>
        <p:spPr>
          <a:xfrm>
            <a:off x="1362298" y="3761482"/>
            <a:ext cx="6419404"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E5DCE6"/>
                </a:solidFill>
                <a:latin typeface="Montserrat" pitchFamily="34" charset="0"/>
                <a:ea typeface="Montserrat" pitchFamily="34" charset="-122"/>
                <a:cs typeface="Montserrat" pitchFamily="34" charset="-120"/>
              </a:rPr>
              <a:t>This four-phase roadmap turns insights into an operating process — from preparing records to launching a fair review system — so each finding leads to a practical improvement in underwriting decisions.</a:t>
            </a:r>
            <a:endParaRPr lang="en-US" sz="600" dirty="0"/>
          </a:p>
        </p:txBody>
      </p:sp>
      <p:sp>
        <p:nvSpPr>
          <p:cNvPr id="15" name="Shape 12"/>
          <p:cNvSpPr/>
          <p:nvPr/>
        </p:nvSpPr>
        <p:spPr>
          <a:xfrm>
            <a:off x="1303660" y="4037186"/>
            <a:ext cx="3227710" cy="721147"/>
          </a:xfrm>
          <a:prstGeom prst="roundRect">
            <a:avLst>
              <a:gd name="adj" fmla="val 8128"/>
            </a:avLst>
          </a:prstGeom>
          <a:solidFill>
            <a:srgbClr val="EEAEF6"/>
          </a:solidFill>
          <a:ln/>
        </p:spPr>
      </p:sp>
      <p:sp>
        <p:nvSpPr>
          <p:cNvPr id="16" name="Text 13"/>
          <p:cNvSpPr/>
          <p:nvPr/>
        </p:nvSpPr>
        <p:spPr>
          <a:xfrm>
            <a:off x="1384995" y="4090541"/>
            <a:ext cx="1487165" cy="127099"/>
          </a:xfrm>
          <a:prstGeom prst="rect">
            <a:avLst/>
          </a:prstGeom>
          <a:noFill/>
          <a:ln/>
        </p:spPr>
        <p:txBody>
          <a:bodyPr wrap="none" lIns="0" tIns="0" rIns="0" bIns="0" rtlCol="0" anchor="t"/>
          <a:lstStyle/>
          <a:p>
            <a:pPr algn="l" indent="0" marL="0">
              <a:lnSpc>
                <a:spcPct val="104000"/>
              </a:lnSpc>
              <a:buNone/>
            </a:pPr>
            <a:r>
              <a:rPr lang="en-US" sz="800" dirty="0">
                <a:solidFill>
                  <a:srgbClr val="000000"/>
                </a:solidFill>
                <a:latin typeface="Bricolage Grotesque ExtraBold" pitchFamily="34" charset="0"/>
                <a:ea typeface="Bricolage Grotesque ExtraBold" pitchFamily="34" charset="-122"/>
                <a:cs typeface="Bricolage Grotesque ExtraBold" pitchFamily="34" charset="-120"/>
              </a:rPr>
              <a:t>Immediate Priorities</a:t>
            </a:r>
            <a:endParaRPr lang="en-US" sz="800" dirty="0"/>
          </a:p>
        </p:txBody>
      </p:sp>
      <p:sp>
        <p:nvSpPr>
          <p:cNvPr id="17" name="Text 14"/>
          <p:cNvSpPr/>
          <p:nvPr/>
        </p:nvSpPr>
        <p:spPr>
          <a:xfrm>
            <a:off x="1384995" y="4270995"/>
            <a:ext cx="3065041" cy="468660"/>
          </a:xfrm>
          <a:prstGeom prst="rect">
            <a:avLst/>
          </a:prstGeom>
          <a:noFill/>
          <a:ln/>
        </p:spPr>
        <p:txBody>
          <a:bodyPr wrap="square" lIns="0" tIns="0" rIns="0" bIns="0" rtlCol="0" anchor="t">
            <a:normAutofit/>
          </a:bodyPr>
          <a:lstStyle/>
          <a:p>
            <a:pPr algn="l" marL="342900" indent="-342900">
              <a:lnSpc>
                <a:spcPct val="110000"/>
              </a:lnSpc>
              <a:buSzPct val="100000"/>
              <a:buChar char="•"/>
            </a:pPr>
            <a:r>
              <a:rPr lang="en-US" sz="600" dirty="0">
                <a:solidFill>
                  <a:srgbClr val="000000"/>
                </a:solidFill>
                <a:latin typeface="Montserrat" pitchFamily="34" charset="0"/>
                <a:ea typeface="Montserrat" pitchFamily="34" charset="-122"/>
                <a:cs typeface="Montserrat" pitchFamily="34" charset="-120"/>
              </a:rPr>
              <a:t>Make sure key application fields are complete</a:t>
            </a:r>
            <a:endParaRPr lang="en-US" sz="600" dirty="0"/>
          </a:p>
          <a:p>
            <a:pPr algn="l" marL="342900" indent="-342900">
              <a:lnSpc>
                <a:spcPct val="110000"/>
              </a:lnSpc>
              <a:buSzPct val="100000"/>
              <a:buChar char="•"/>
            </a:pPr>
            <a:r>
              <a:rPr lang="en-US" sz="600" dirty="0">
                <a:solidFill>
                  <a:srgbClr val="000000"/>
                </a:solidFill>
                <a:latin typeface="Montserrat" pitchFamily="34" charset="0"/>
                <a:ea typeface="Montserrat" pitchFamily="34" charset="-122"/>
                <a:cs typeface="Montserrat" pitchFamily="34" charset="-120"/>
              </a:rPr>
              <a:t>Review income and loan amounts for unusual values</a:t>
            </a:r>
            <a:endParaRPr lang="en-US" sz="600" dirty="0"/>
          </a:p>
          <a:p>
            <a:pPr algn="l" marL="342900" indent="-342900">
              <a:lnSpc>
                <a:spcPct val="110000"/>
              </a:lnSpc>
              <a:buSzPct val="100000"/>
              <a:buChar char="•"/>
            </a:pPr>
            <a:r>
              <a:rPr lang="en-US" sz="600" dirty="0">
                <a:solidFill>
                  <a:srgbClr val="000000"/>
                </a:solidFill>
                <a:latin typeface="Montserrat" pitchFamily="34" charset="0"/>
                <a:ea typeface="Montserrat" pitchFamily="34" charset="-122"/>
                <a:cs typeface="Montserrat" pitchFamily="34" charset="-120"/>
              </a:rPr>
              <a:t>Set up a simple first-pass review for applications with strong credit history</a:t>
            </a:r>
            <a:endParaRPr lang="en-US" sz="600" dirty="0"/>
          </a:p>
        </p:txBody>
      </p:sp>
      <p:sp>
        <p:nvSpPr>
          <p:cNvPr id="18" name="Text 15"/>
          <p:cNvSpPr/>
          <p:nvPr/>
        </p:nvSpPr>
        <p:spPr>
          <a:xfrm>
            <a:off x="4676031" y="4090541"/>
            <a:ext cx="1575197" cy="127099"/>
          </a:xfrm>
          <a:prstGeom prst="rect">
            <a:avLst/>
          </a:prstGeom>
          <a:noFill/>
          <a:ln/>
        </p:spPr>
        <p:txBody>
          <a:bodyPr wrap="none" lIns="0" tIns="0" rIns="0" bIns="0" rtlCol="0" anchor="t"/>
          <a:lstStyle/>
          <a:p>
            <a:pPr algn="l" indent="0" marL="0">
              <a:lnSpc>
                <a:spcPct val="104000"/>
              </a:lnSpc>
              <a:buNone/>
            </a:pPr>
            <a:r>
              <a:rPr lang="en-US" sz="800" dirty="0">
                <a:solidFill>
                  <a:srgbClr val="EEAEF6"/>
                </a:solidFill>
                <a:latin typeface="Bricolage Grotesque ExtraBold" pitchFamily="34" charset="0"/>
                <a:ea typeface="Bricolage Grotesque ExtraBold" pitchFamily="34" charset="-122"/>
                <a:cs typeface="Bricolage Grotesque ExtraBold" pitchFamily="34" charset="-120"/>
              </a:rPr>
              <a:t>Strategic Watch Items</a:t>
            </a:r>
            <a:endParaRPr lang="en-US" sz="800" dirty="0"/>
          </a:p>
        </p:txBody>
      </p:sp>
      <p:sp>
        <p:nvSpPr>
          <p:cNvPr id="19" name="Text 16"/>
          <p:cNvSpPr/>
          <p:nvPr/>
        </p:nvSpPr>
        <p:spPr>
          <a:xfrm>
            <a:off x="4676031" y="4270995"/>
            <a:ext cx="3110433" cy="360834"/>
          </a:xfrm>
          <a:prstGeom prst="rect">
            <a:avLst/>
          </a:prstGeom>
          <a:noFill/>
          <a:ln/>
        </p:spPr>
        <p:txBody>
          <a:bodyPr wrap="square" lIns="0" tIns="0" rIns="0" bIns="0" rtlCol="0" anchor="t">
            <a:normAutofit/>
          </a:bodyPr>
          <a:lstStyle/>
          <a:p>
            <a:pPr algn="l" marL="342900" indent="-342900">
              <a:lnSpc>
                <a:spcPct val="110000"/>
              </a:lnSpc>
              <a:buSzPct val="100000"/>
              <a:buChar char="•"/>
            </a:pPr>
            <a:r>
              <a:rPr lang="en-US" sz="600" dirty="0">
                <a:solidFill>
                  <a:srgbClr val="E5DCE6"/>
                </a:solidFill>
                <a:latin typeface="Montserrat" pitchFamily="34" charset="0"/>
                <a:ea typeface="Montserrat" pitchFamily="34" charset="-122"/>
                <a:cs typeface="Montserrat" pitchFamily="34" charset="-120"/>
              </a:rPr>
              <a:t>Check decision outcomes regularly to make sure they stay fair</a:t>
            </a:r>
            <a:endParaRPr lang="en-US" sz="600" dirty="0"/>
          </a:p>
          <a:p>
            <a:pPr algn="l" marL="342900" indent="-342900">
              <a:lnSpc>
                <a:spcPct val="110000"/>
              </a:lnSpc>
              <a:buSzPct val="100000"/>
              <a:buChar char="•"/>
            </a:pPr>
            <a:r>
              <a:rPr lang="en-US" sz="600" dirty="0">
                <a:solidFill>
                  <a:srgbClr val="E5DCE6"/>
                </a:solidFill>
                <a:latin typeface="Montserrat" pitchFamily="34" charset="0"/>
                <a:ea typeface="Montserrat" pitchFamily="34" charset="-122"/>
                <a:cs typeface="Montserrat" pitchFamily="34" charset="-120"/>
              </a:rPr>
              <a:t>Increase outreach to groups that have been underrepresented</a:t>
            </a:r>
            <a:endParaRPr lang="en-US" sz="600" dirty="0"/>
          </a:p>
          <a:p>
            <a:pPr algn="l" marL="342900" indent="-342900">
              <a:lnSpc>
                <a:spcPct val="110000"/>
              </a:lnSpc>
              <a:buSzPct val="100000"/>
              <a:buChar char="•"/>
            </a:pPr>
            <a:r>
              <a:rPr lang="en-US" sz="600" dirty="0">
                <a:solidFill>
                  <a:srgbClr val="E5DCE6"/>
                </a:solidFill>
                <a:latin typeface="Montserrat" pitchFamily="34" charset="0"/>
                <a:ea typeface="Montserrat" pitchFamily="34" charset="-122"/>
                <a:cs typeface="Montserrat" pitchFamily="34" charset="-120"/>
              </a:rPr>
              <a:t>Revisit approval guidelines as the process is put into practice</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2026-06-15T19:44:05Z</dcterms:created>
  <dcterms:modified xsi:type="dcterms:W3CDTF">2026-06-15T19:44:05Z</dcterms:modified>
</cp:coreProperties>
</file>