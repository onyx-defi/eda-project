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line: we looked at 614 real applications to find out what actually decides approval. The answer turned out to be one single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goal is to find the real driver of approval and turn it into policy. Four objectives, the last one is the one that matters to this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deck on one slide. If they only remember one thing, it is finding number 1. Findings 2 and 4 are the counter-intuitive ones worth pausing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 applications, no duplicates. The key number to hold onto is 68.7% - the baseline. Every later percentage gets compared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here is the irony: credit history is both the most important field and the most incomplete one. That is an intake problem, and it is fixable.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79.6 versus 7.9 percent. Ten times. Only 7 of 89 people without a clean record got through. If they remember one slide, this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counter-intuitive one. Rejected applicants earn 3,833; approved earn 3,812. Rejected applicants earn MORE. Income tells you how much to lend, not whether to 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but small. 76.8 versus 61.5. Everything is still near the 68.7 benchmark. Do not let anyone leave here thinking we should treat rural applicants differently - we do not know the cause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point: if you set an income cut-off using the average of 5,403, you have built policy around someone who does not exist. The typical applicant earns 3,812.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almost as written if the room is non-technical. Three questions: can we trust it, what surprised us, what do we do. Then move to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top two - they are the only ones that change anything this quarter. If asked what to do first: make credit history mandatory at intake, then fast-track the clean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9509760" y="-1371600"/>
            <a:ext cx="4937760" cy="4937760"/>
          </a:xfrm>
          <a:prstGeom prst="ellipse">
            <a:avLst/>
          </a:prstGeom>
          <a:solidFill>
            <a:srgbClr val="01697C">
              <a:alpha val="30000"/>
            </a:srgbClr>
          </a:solidFill>
          <a:ln/>
        </p:spPr>
      </p:sp>
      <p:sp>
        <p:nvSpPr>
          <p:cNvPr id="3" name="Shape 1"/>
          <p:cNvSpPr/>
          <p:nvPr/>
        </p:nvSpPr>
        <p:spPr>
          <a:xfrm>
            <a:off x="10881360" y="4206240"/>
            <a:ext cx="2926080" cy="2926080"/>
          </a:xfrm>
          <a:prstGeom prst="ellipse">
            <a:avLst/>
          </a:prstGeom>
          <a:solidFill>
            <a:srgbClr val="E8A33D">
              <a:alpha val="20000"/>
            </a:srgbClr>
          </a:solidFill>
          <a:ln/>
        </p:spPr>
      </p:sp>
      <p:sp>
        <p:nvSpPr>
          <p:cNvPr id="4" name="Text 2"/>
          <p:cNvSpPr/>
          <p:nvPr/>
        </p:nvSpPr>
        <p:spPr>
          <a:xfrm>
            <a:off x="822960" y="1783080"/>
            <a:ext cx="8595360" cy="365760"/>
          </a:xfrm>
          <a:prstGeom prst="rect">
            <a:avLst/>
          </a:prstGeom>
          <a:noFill/>
          <a:ln/>
        </p:spPr>
        <p:txBody>
          <a:bodyPr wrap="square" lIns="0" tIns="0" rIns="0" bIns="0" rtlCol="0" anchor="ctr"/>
          <a:lstStyle/>
          <a:p>
            <a:pPr indent="0" marL="0">
              <a:buNone/>
            </a:pPr>
            <a:r>
              <a:rPr lang="en-US" sz="1300" b="1" spc="240" kern="0" dirty="0">
                <a:solidFill>
                  <a:srgbClr val="E8A33D"/>
                </a:solidFill>
                <a:latin typeface="Calibri" pitchFamily="34" charset="0"/>
                <a:ea typeface="Calibri" pitchFamily="34" charset="-122"/>
                <a:cs typeface="Calibri" pitchFamily="34" charset="-120"/>
              </a:rPr>
              <a:t>LOAN APPLICATION ANALYSIS</a:t>
            </a:r>
            <a:endParaRPr lang="en-US" sz="1300" dirty="0"/>
          </a:p>
        </p:txBody>
      </p:sp>
      <p:sp>
        <p:nvSpPr>
          <p:cNvPr id="5" name="Text 3"/>
          <p:cNvSpPr/>
          <p:nvPr/>
        </p:nvSpPr>
        <p:spPr>
          <a:xfrm>
            <a:off x="822960" y="2240280"/>
            <a:ext cx="8595360" cy="1737360"/>
          </a:xfrm>
          <a:prstGeom prst="rect">
            <a:avLst/>
          </a:prstGeom>
          <a:noFill/>
          <a:ln/>
        </p:spPr>
        <p:txBody>
          <a:bodyPr wrap="square" lIns="0" tIns="0" rIns="0" bIns="0" rtlCol="0" anchor="ctr"/>
          <a:lstStyle/>
          <a:p>
            <a:pPr indent="0" marL="0">
              <a:lnSpc>
                <a:spcPts val="5200"/>
              </a:lnSpc>
              <a:buNone/>
            </a:pPr>
            <a:r>
              <a:rPr lang="en-US" sz="4700" b="1" dirty="0">
                <a:solidFill>
                  <a:srgbClr val="FFFFFF"/>
                </a:solidFill>
                <a:latin typeface="Cambria" pitchFamily="34" charset="0"/>
                <a:ea typeface="Cambria" pitchFamily="34" charset="-122"/>
                <a:cs typeface="Cambria" pitchFamily="34" charset="-120"/>
              </a:rPr>
              <a:t>What Decides</a:t>
            </a:r>
            <a:endParaRPr lang="en-US" sz="4700" dirty="0"/>
          </a:p>
          <a:p>
            <a:pPr indent="0" marL="0">
              <a:lnSpc>
                <a:spcPts val="5200"/>
              </a:lnSpc>
              <a:buNone/>
            </a:pPr>
            <a:r>
              <a:rPr lang="en-US" sz="4700" b="1" dirty="0">
                <a:solidFill>
                  <a:srgbClr val="FFFFFF"/>
                </a:solidFill>
                <a:latin typeface="Cambria" pitchFamily="34" charset="0"/>
                <a:ea typeface="Cambria" pitchFamily="34" charset="-122"/>
                <a:cs typeface="Cambria" pitchFamily="34" charset="-120"/>
              </a:rPr>
              <a:t>Who Gets Approved?</a:t>
            </a:r>
            <a:endParaRPr lang="en-US" sz="4700" dirty="0"/>
          </a:p>
        </p:txBody>
      </p:sp>
      <p:sp>
        <p:nvSpPr>
          <p:cNvPr id="6" name="Text 4"/>
          <p:cNvSpPr/>
          <p:nvPr/>
        </p:nvSpPr>
        <p:spPr>
          <a:xfrm>
            <a:off x="822960" y="4069080"/>
            <a:ext cx="8595360" cy="41148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A review of 614 loan applications</a:t>
            </a:r>
            <a:endParaRPr lang="en-US" sz="1700" dirty="0"/>
          </a:p>
        </p:txBody>
      </p:sp>
      <p:sp>
        <p:nvSpPr>
          <p:cNvPr id="7" name="Text 5"/>
          <p:cNvSpPr/>
          <p:nvPr/>
        </p:nvSpPr>
        <p:spPr>
          <a:xfrm>
            <a:off x="822960" y="4892040"/>
            <a:ext cx="8595360" cy="320040"/>
          </a:xfrm>
          <a:prstGeom prst="rect">
            <a:avLst/>
          </a:prstGeom>
          <a:noFill/>
          <a:ln/>
        </p:spPr>
        <p:txBody>
          <a:bodyPr wrap="square" lIns="0" tIns="0" rIns="0" bIns="0" rtlCol="0" anchor="ctr"/>
          <a:lstStyle/>
          <a:p>
            <a:pPr indent="0" marL="0">
              <a:buNone/>
            </a:pPr>
            <a:r>
              <a:rPr lang="en-US" sz="1300" dirty="0">
                <a:solidFill>
                  <a:srgbClr val="9DB3C4"/>
                </a:solidFill>
                <a:latin typeface="Calibri" pitchFamily="34" charset="0"/>
                <a:ea typeface="Calibri" pitchFamily="34" charset="-122"/>
                <a:cs typeface="Calibri" pitchFamily="34" charset="-120"/>
              </a:rPr>
              <a:t>Prepared for the loan management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The Goal</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What we set out to answer</a:t>
            </a:r>
            <a:endParaRPr lang="en-US" sz="1350" dirty="0"/>
          </a:p>
        </p:txBody>
      </p:sp>
      <p:sp>
        <p:nvSpPr>
          <p:cNvPr id="6" name="Shape 4"/>
          <p:cNvSpPr/>
          <p:nvPr/>
        </p:nvSpPr>
        <p:spPr>
          <a:xfrm>
            <a:off x="502920" y="1316736"/>
            <a:ext cx="11155680" cy="1060704"/>
          </a:xfrm>
          <a:prstGeom prst="roundRect">
            <a:avLst>
              <a:gd name="adj" fmla="val 6897"/>
            </a:avLst>
          </a:prstGeom>
          <a:solidFill>
            <a:srgbClr val="12263F"/>
          </a:solidFill>
          <a:ln/>
        </p:spPr>
      </p:sp>
      <p:sp>
        <p:nvSpPr>
          <p:cNvPr id="7" name="Text 5"/>
          <p:cNvSpPr/>
          <p:nvPr/>
        </p:nvSpPr>
        <p:spPr>
          <a:xfrm>
            <a:off x="914400" y="1316736"/>
            <a:ext cx="10332720" cy="1060704"/>
          </a:xfrm>
          <a:prstGeom prst="rect">
            <a:avLst/>
          </a:prstGeom>
          <a:noFill/>
          <a:ln/>
        </p:spPr>
        <p:txBody>
          <a:bodyPr wrap="square" lIns="0" tIns="0" rIns="0" bIns="0" rtlCol="0" anchor="ctr"/>
          <a:lstStyle/>
          <a:p>
            <a:pPr indent="0" marL="0">
              <a:buNone/>
            </a:pPr>
            <a:r>
              <a:rPr lang="en-US" sz="1900" i="1" dirty="0">
                <a:solidFill>
                  <a:srgbClr val="FFFFFF"/>
                </a:solidFill>
                <a:latin typeface="Cambria" pitchFamily="34" charset="0"/>
                <a:ea typeface="Cambria" pitchFamily="34" charset="-122"/>
                <a:cs typeface="Cambria" pitchFamily="34" charset="-120"/>
              </a:rPr>
              <a:t>“Which applicant details actually decide whether a loan is approved — and which ones only look like they do?”</a:t>
            </a:r>
            <a:endParaRPr lang="en-US" sz="1900" dirty="0"/>
          </a:p>
        </p:txBody>
      </p:sp>
      <p:sp>
        <p:nvSpPr>
          <p:cNvPr id="8" name="Shape 6"/>
          <p:cNvSpPr/>
          <p:nvPr/>
        </p:nvSpPr>
        <p:spPr>
          <a:xfrm>
            <a:off x="566928" y="2743200"/>
            <a:ext cx="402336" cy="402336"/>
          </a:xfrm>
          <a:prstGeom prst="ellipse">
            <a:avLst/>
          </a:prstGeom>
          <a:solidFill>
            <a:srgbClr val="01697C"/>
          </a:solidFill>
          <a:ln/>
        </p:spPr>
      </p:sp>
      <p:sp>
        <p:nvSpPr>
          <p:cNvPr id="9" name="Text 7"/>
          <p:cNvSpPr/>
          <p:nvPr/>
        </p:nvSpPr>
        <p:spPr>
          <a:xfrm>
            <a:off x="566928" y="2743200"/>
            <a:ext cx="402336" cy="402336"/>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10" name="Text 8"/>
          <p:cNvSpPr/>
          <p:nvPr/>
        </p:nvSpPr>
        <p:spPr>
          <a:xfrm>
            <a:off x="1133856" y="2651760"/>
            <a:ext cx="3200400" cy="585216"/>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Find what really matters</a:t>
            </a:r>
            <a:endParaRPr lang="en-US" sz="1450" dirty="0"/>
          </a:p>
        </p:txBody>
      </p:sp>
      <p:sp>
        <p:nvSpPr>
          <p:cNvPr id="11" name="Text 9"/>
          <p:cNvSpPr/>
          <p:nvPr/>
        </p:nvSpPr>
        <p:spPr>
          <a:xfrm>
            <a:off x="4434840" y="2651760"/>
            <a:ext cx="7223760" cy="585216"/>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Separate the details that genuinely move the decision from the ones we only assume matter.</a:t>
            </a:r>
            <a:endParaRPr lang="en-US" sz="1250" dirty="0"/>
          </a:p>
        </p:txBody>
      </p:sp>
      <p:sp>
        <p:nvSpPr>
          <p:cNvPr id="12" name="Shape 10"/>
          <p:cNvSpPr/>
          <p:nvPr/>
        </p:nvSpPr>
        <p:spPr>
          <a:xfrm>
            <a:off x="566928" y="3493008"/>
            <a:ext cx="402336" cy="402336"/>
          </a:xfrm>
          <a:prstGeom prst="ellipse">
            <a:avLst/>
          </a:prstGeom>
          <a:solidFill>
            <a:srgbClr val="01697C"/>
          </a:solidFill>
          <a:ln/>
        </p:spPr>
      </p:sp>
      <p:sp>
        <p:nvSpPr>
          <p:cNvPr id="13" name="Text 11"/>
          <p:cNvSpPr/>
          <p:nvPr/>
        </p:nvSpPr>
        <p:spPr>
          <a:xfrm>
            <a:off x="566928" y="3493008"/>
            <a:ext cx="402336" cy="402336"/>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1133856" y="3401568"/>
            <a:ext cx="3200400" cy="585216"/>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Check the data is trustworthy</a:t>
            </a:r>
            <a:endParaRPr lang="en-US" sz="1450" dirty="0"/>
          </a:p>
        </p:txBody>
      </p:sp>
      <p:sp>
        <p:nvSpPr>
          <p:cNvPr id="15" name="Text 13"/>
          <p:cNvSpPr/>
          <p:nvPr/>
        </p:nvSpPr>
        <p:spPr>
          <a:xfrm>
            <a:off x="4434840" y="3401568"/>
            <a:ext cx="7223760" cy="585216"/>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Confirm the numbers are complete and no application was counted twice before drawing conclusions.</a:t>
            </a:r>
            <a:endParaRPr lang="en-US" sz="1250" dirty="0"/>
          </a:p>
        </p:txBody>
      </p:sp>
      <p:sp>
        <p:nvSpPr>
          <p:cNvPr id="16" name="Shape 14"/>
          <p:cNvSpPr/>
          <p:nvPr/>
        </p:nvSpPr>
        <p:spPr>
          <a:xfrm>
            <a:off x="566928" y="4242816"/>
            <a:ext cx="402336" cy="402336"/>
          </a:xfrm>
          <a:prstGeom prst="ellipse">
            <a:avLst/>
          </a:prstGeom>
          <a:solidFill>
            <a:srgbClr val="01697C"/>
          </a:solidFill>
          <a:ln/>
        </p:spPr>
      </p:sp>
      <p:sp>
        <p:nvSpPr>
          <p:cNvPr id="17" name="Text 15"/>
          <p:cNvSpPr/>
          <p:nvPr/>
        </p:nvSpPr>
        <p:spPr>
          <a:xfrm>
            <a:off x="566928" y="4242816"/>
            <a:ext cx="402336" cy="402336"/>
          </a:xfrm>
          <a:prstGeom prst="rect">
            <a:avLst/>
          </a:prstGeom>
          <a:noFill/>
          <a:ln/>
        </p:spPr>
        <p:txBody>
          <a:bodyPr wrap="square"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8" name="Text 16"/>
          <p:cNvSpPr/>
          <p:nvPr/>
        </p:nvSpPr>
        <p:spPr>
          <a:xfrm>
            <a:off x="1133856" y="4151376"/>
            <a:ext cx="3200400" cy="585216"/>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Measure it, don't guess it</a:t>
            </a:r>
            <a:endParaRPr lang="en-US" sz="1450" dirty="0"/>
          </a:p>
        </p:txBody>
      </p:sp>
      <p:sp>
        <p:nvSpPr>
          <p:cNvPr id="19" name="Text 17"/>
          <p:cNvSpPr/>
          <p:nvPr/>
        </p:nvSpPr>
        <p:spPr>
          <a:xfrm>
            <a:off x="4434840" y="4151376"/>
            <a:ext cx="7223760" cy="585216"/>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Put an actual number on how much each detail affects approval, instead of relying on instinct.</a:t>
            </a:r>
            <a:endParaRPr lang="en-US" sz="1250" dirty="0"/>
          </a:p>
        </p:txBody>
      </p:sp>
      <p:sp>
        <p:nvSpPr>
          <p:cNvPr id="20" name="Shape 18"/>
          <p:cNvSpPr/>
          <p:nvPr/>
        </p:nvSpPr>
        <p:spPr>
          <a:xfrm>
            <a:off x="566928" y="4992624"/>
            <a:ext cx="402336" cy="402336"/>
          </a:xfrm>
          <a:prstGeom prst="ellipse">
            <a:avLst/>
          </a:prstGeom>
          <a:solidFill>
            <a:srgbClr val="E8A33D"/>
          </a:solidFill>
          <a:ln/>
        </p:spPr>
      </p:sp>
      <p:sp>
        <p:nvSpPr>
          <p:cNvPr id="21" name="Text 19"/>
          <p:cNvSpPr/>
          <p:nvPr/>
        </p:nvSpPr>
        <p:spPr>
          <a:xfrm>
            <a:off x="566928" y="4992624"/>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4</a:t>
            </a:r>
            <a:endParaRPr lang="en-US" sz="1300" dirty="0"/>
          </a:p>
        </p:txBody>
      </p:sp>
      <p:sp>
        <p:nvSpPr>
          <p:cNvPr id="22" name="Text 20"/>
          <p:cNvSpPr/>
          <p:nvPr/>
        </p:nvSpPr>
        <p:spPr>
          <a:xfrm>
            <a:off x="1133856" y="4901184"/>
            <a:ext cx="3200400" cy="585216"/>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Turn it into policy</a:t>
            </a:r>
            <a:endParaRPr lang="en-US" sz="1450" dirty="0"/>
          </a:p>
        </p:txBody>
      </p:sp>
      <p:sp>
        <p:nvSpPr>
          <p:cNvPr id="23" name="Text 21"/>
          <p:cNvSpPr/>
          <p:nvPr/>
        </p:nvSpPr>
        <p:spPr>
          <a:xfrm>
            <a:off x="4434840" y="4901184"/>
            <a:ext cx="7223760" cy="585216"/>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Give the loan team something they can act on immediately.</a:t>
            </a:r>
            <a:endParaRPr lang="en-US" sz="1250" dirty="0"/>
          </a:p>
        </p:txBody>
      </p:sp>
      <p:sp>
        <p:nvSpPr>
          <p:cNvPr id="24" name="Shape 22"/>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5" name="Text 23"/>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6" name="Text 24"/>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We wanted one clear answer: what separates an approved application from a rejected one? Everything that follows builds to that.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The Insights</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Four findings — the headlines before the detail</a:t>
            </a:r>
            <a:endParaRPr lang="en-US" sz="1350" dirty="0"/>
          </a:p>
        </p:txBody>
      </p:sp>
      <p:sp>
        <p:nvSpPr>
          <p:cNvPr id="6" name="Shape 4"/>
          <p:cNvSpPr/>
          <p:nvPr/>
        </p:nvSpPr>
        <p:spPr>
          <a:xfrm>
            <a:off x="502920" y="1316736"/>
            <a:ext cx="5440680" cy="1883664"/>
          </a:xfrm>
          <a:prstGeom prst="roundRect">
            <a:avLst>
              <a:gd name="adj" fmla="val 2913"/>
            </a:avLst>
          </a:prstGeom>
          <a:solidFill>
            <a:srgbClr val="F1F4F6"/>
          </a:solidFill>
          <a:ln w="12700">
            <a:solidFill>
              <a:srgbClr val="E8EDF1"/>
            </a:solidFill>
            <a:prstDash val="solid"/>
          </a:ln>
        </p:spPr>
      </p:sp>
      <p:sp>
        <p:nvSpPr>
          <p:cNvPr id="7" name="Shape 5"/>
          <p:cNvSpPr/>
          <p:nvPr/>
        </p:nvSpPr>
        <p:spPr>
          <a:xfrm>
            <a:off x="758952" y="1554480"/>
            <a:ext cx="493776" cy="493776"/>
          </a:xfrm>
          <a:prstGeom prst="ellipse">
            <a:avLst/>
          </a:prstGeom>
          <a:solidFill>
            <a:srgbClr val="2E7D5B"/>
          </a:solidFill>
          <a:ln/>
        </p:spPr>
      </p:sp>
      <p:sp>
        <p:nvSpPr>
          <p:cNvPr id="8" name="Text 6"/>
          <p:cNvSpPr/>
          <p:nvPr/>
        </p:nvSpPr>
        <p:spPr>
          <a:xfrm>
            <a:off x="758952" y="1554480"/>
            <a:ext cx="493776" cy="493776"/>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p:nvPr/>
        </p:nvSpPr>
        <p:spPr>
          <a:xfrm>
            <a:off x="1399032" y="1517904"/>
            <a:ext cx="4343400" cy="566928"/>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Credit history decides almost everything</a:t>
            </a:r>
            <a:endParaRPr lang="en-US" sz="1450" dirty="0"/>
          </a:p>
        </p:txBody>
      </p:sp>
      <p:sp>
        <p:nvSpPr>
          <p:cNvPr id="10" name="Text 8"/>
          <p:cNvSpPr/>
          <p:nvPr/>
        </p:nvSpPr>
        <p:spPr>
          <a:xfrm>
            <a:off x="758952" y="2157984"/>
            <a:ext cx="4937760" cy="896112"/>
          </a:xfrm>
          <a:prstGeom prst="rect">
            <a:avLst/>
          </a:prstGeom>
          <a:noFill/>
          <a:ln/>
        </p:spPr>
        <p:txBody>
          <a:bodyPr wrap="square" lIns="0" tIns="0" rIns="0" bIns="0" rtlCol="0" anchor="ctr"/>
          <a:lstStyle/>
          <a:p>
            <a:pPr indent="0" marL="0">
              <a:lnSpc>
                <a:spcPts val="1500"/>
              </a:lnSpc>
              <a:buNone/>
            </a:pPr>
            <a:r>
              <a:rPr lang="en-US" sz="1200" dirty="0">
                <a:solidFill>
                  <a:srgbClr val="3D4F60"/>
                </a:solidFill>
                <a:latin typeface="Calibri" pitchFamily="34" charset="0"/>
                <a:ea typeface="Calibri" pitchFamily="34" charset="-122"/>
                <a:cs typeface="Calibri" pitchFamily="34" charset="-120"/>
              </a:rPr>
              <a:t>Applicants with a clean credit record are approved 79.6% of the time. Without one, just 7.9%. That is 10 times more likely — no other detail comes close.</a:t>
            </a:r>
            <a:endParaRPr lang="en-US" sz="1200" dirty="0"/>
          </a:p>
        </p:txBody>
      </p:sp>
      <p:sp>
        <p:nvSpPr>
          <p:cNvPr id="11" name="Shape 9"/>
          <p:cNvSpPr/>
          <p:nvPr/>
        </p:nvSpPr>
        <p:spPr>
          <a:xfrm>
            <a:off x="6217920" y="1316736"/>
            <a:ext cx="5440680" cy="1883664"/>
          </a:xfrm>
          <a:prstGeom prst="roundRect">
            <a:avLst>
              <a:gd name="adj" fmla="val 2913"/>
            </a:avLst>
          </a:prstGeom>
          <a:solidFill>
            <a:srgbClr val="F1F4F6"/>
          </a:solidFill>
          <a:ln w="12700">
            <a:solidFill>
              <a:srgbClr val="E8EDF1"/>
            </a:solidFill>
            <a:prstDash val="solid"/>
          </a:ln>
        </p:spPr>
      </p:sp>
      <p:sp>
        <p:nvSpPr>
          <p:cNvPr id="12" name="Shape 10"/>
          <p:cNvSpPr/>
          <p:nvPr/>
        </p:nvSpPr>
        <p:spPr>
          <a:xfrm>
            <a:off x="6473952" y="1554480"/>
            <a:ext cx="493776" cy="493776"/>
          </a:xfrm>
          <a:prstGeom prst="ellipse">
            <a:avLst/>
          </a:prstGeom>
          <a:solidFill>
            <a:srgbClr val="C1453C"/>
          </a:solidFill>
          <a:ln/>
        </p:spPr>
      </p:sp>
      <p:sp>
        <p:nvSpPr>
          <p:cNvPr id="13" name="Text 11"/>
          <p:cNvSpPr/>
          <p:nvPr/>
        </p:nvSpPr>
        <p:spPr>
          <a:xfrm>
            <a:off x="6473952" y="1554480"/>
            <a:ext cx="493776" cy="493776"/>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7114032" y="1517904"/>
            <a:ext cx="4343400" cy="566928"/>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Income does not decide approval</a:t>
            </a:r>
            <a:endParaRPr lang="en-US" sz="1450" dirty="0"/>
          </a:p>
        </p:txBody>
      </p:sp>
      <p:sp>
        <p:nvSpPr>
          <p:cNvPr id="15" name="Text 13"/>
          <p:cNvSpPr/>
          <p:nvPr/>
        </p:nvSpPr>
        <p:spPr>
          <a:xfrm>
            <a:off x="6473952" y="2157984"/>
            <a:ext cx="4937760" cy="896112"/>
          </a:xfrm>
          <a:prstGeom prst="rect">
            <a:avLst/>
          </a:prstGeom>
          <a:noFill/>
          <a:ln/>
        </p:spPr>
        <p:txBody>
          <a:bodyPr wrap="square" lIns="0" tIns="0" rIns="0" bIns="0" rtlCol="0" anchor="ctr"/>
          <a:lstStyle/>
          <a:p>
            <a:pPr indent="0" marL="0">
              <a:lnSpc>
                <a:spcPts val="1500"/>
              </a:lnSpc>
              <a:buNone/>
            </a:pPr>
            <a:r>
              <a:rPr lang="en-US" sz="1200" dirty="0">
                <a:solidFill>
                  <a:srgbClr val="3D4F60"/>
                </a:solidFill>
                <a:latin typeface="Calibri" pitchFamily="34" charset="0"/>
                <a:ea typeface="Calibri" pitchFamily="34" charset="-122"/>
                <a:cs typeface="Calibri" pitchFamily="34" charset="-120"/>
              </a:rPr>
              <a:t>Approved and rejected applicants earn practically the same (3,812 vs 3,833). Income decides how much is lent, not whether it is lent at all.</a:t>
            </a:r>
            <a:endParaRPr lang="en-US" sz="1200" dirty="0"/>
          </a:p>
        </p:txBody>
      </p:sp>
      <p:sp>
        <p:nvSpPr>
          <p:cNvPr id="16" name="Shape 14"/>
          <p:cNvSpPr/>
          <p:nvPr/>
        </p:nvSpPr>
        <p:spPr>
          <a:xfrm>
            <a:off x="502920" y="3401568"/>
            <a:ext cx="5440680" cy="1883664"/>
          </a:xfrm>
          <a:prstGeom prst="roundRect">
            <a:avLst>
              <a:gd name="adj" fmla="val 2913"/>
            </a:avLst>
          </a:prstGeom>
          <a:solidFill>
            <a:srgbClr val="F1F4F6"/>
          </a:solidFill>
          <a:ln w="12700">
            <a:solidFill>
              <a:srgbClr val="E8EDF1"/>
            </a:solidFill>
            <a:prstDash val="solid"/>
          </a:ln>
        </p:spPr>
      </p:sp>
      <p:sp>
        <p:nvSpPr>
          <p:cNvPr id="17" name="Shape 15"/>
          <p:cNvSpPr/>
          <p:nvPr/>
        </p:nvSpPr>
        <p:spPr>
          <a:xfrm>
            <a:off x="758952" y="3639312"/>
            <a:ext cx="493776" cy="493776"/>
          </a:xfrm>
          <a:prstGeom prst="ellipse">
            <a:avLst/>
          </a:prstGeom>
          <a:solidFill>
            <a:srgbClr val="E8A33D"/>
          </a:solidFill>
          <a:ln/>
        </p:spPr>
      </p:sp>
      <p:sp>
        <p:nvSpPr>
          <p:cNvPr id="18" name="Text 16"/>
          <p:cNvSpPr/>
          <p:nvPr/>
        </p:nvSpPr>
        <p:spPr>
          <a:xfrm>
            <a:off x="758952" y="3639312"/>
            <a:ext cx="493776" cy="493776"/>
          </a:xfrm>
          <a:prstGeom prst="rect">
            <a:avLst/>
          </a:prstGeom>
          <a:noFill/>
          <a:ln/>
        </p:spPr>
        <p:txBody>
          <a:bodyPr wrap="square" rtlCol="0" anchor="ctr"/>
          <a:lstStyle/>
          <a:p>
            <a:pPr algn="ctr" indent="0" marL="0">
              <a:buNone/>
            </a:pPr>
            <a:r>
              <a:rPr lang="en-US" sz="1600" b="1" dirty="0">
                <a:solidFill>
                  <a:srgbClr val="12263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1399032" y="3602736"/>
            <a:ext cx="4343400" cy="566928"/>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Location makes a small difference</a:t>
            </a:r>
            <a:endParaRPr lang="en-US" sz="1450" dirty="0"/>
          </a:p>
        </p:txBody>
      </p:sp>
      <p:sp>
        <p:nvSpPr>
          <p:cNvPr id="20" name="Text 18"/>
          <p:cNvSpPr/>
          <p:nvPr/>
        </p:nvSpPr>
        <p:spPr>
          <a:xfrm>
            <a:off x="758952" y="4242816"/>
            <a:ext cx="4937760" cy="896112"/>
          </a:xfrm>
          <a:prstGeom prst="rect">
            <a:avLst/>
          </a:prstGeom>
          <a:noFill/>
          <a:ln/>
        </p:spPr>
        <p:txBody>
          <a:bodyPr wrap="square" lIns="0" tIns="0" rIns="0" bIns="0" rtlCol="0" anchor="ctr"/>
          <a:lstStyle/>
          <a:p>
            <a:pPr indent="0" marL="0">
              <a:lnSpc>
                <a:spcPts val="1500"/>
              </a:lnSpc>
              <a:buNone/>
            </a:pPr>
            <a:r>
              <a:rPr lang="en-US" sz="1200" dirty="0">
                <a:solidFill>
                  <a:srgbClr val="3D4F60"/>
                </a:solidFill>
                <a:latin typeface="Calibri" pitchFamily="34" charset="0"/>
                <a:ea typeface="Calibri" pitchFamily="34" charset="-122"/>
                <a:cs typeface="Calibri" pitchFamily="34" charset="-120"/>
              </a:rPr>
              <a:t>Semiurban applicants are approved most often (76.8%), rural least (61.5%). Real, but far too small to build a rule around.</a:t>
            </a:r>
            <a:endParaRPr lang="en-US" sz="1200" dirty="0"/>
          </a:p>
        </p:txBody>
      </p:sp>
      <p:sp>
        <p:nvSpPr>
          <p:cNvPr id="21" name="Shape 19"/>
          <p:cNvSpPr/>
          <p:nvPr/>
        </p:nvSpPr>
        <p:spPr>
          <a:xfrm>
            <a:off x="6217920" y="3401568"/>
            <a:ext cx="5440680" cy="1883664"/>
          </a:xfrm>
          <a:prstGeom prst="roundRect">
            <a:avLst>
              <a:gd name="adj" fmla="val 2913"/>
            </a:avLst>
          </a:prstGeom>
          <a:solidFill>
            <a:srgbClr val="F1F4F6"/>
          </a:solidFill>
          <a:ln w="12700">
            <a:solidFill>
              <a:srgbClr val="E8EDF1"/>
            </a:solidFill>
            <a:prstDash val="solid"/>
          </a:ln>
        </p:spPr>
      </p:sp>
      <p:sp>
        <p:nvSpPr>
          <p:cNvPr id="22" name="Shape 20"/>
          <p:cNvSpPr/>
          <p:nvPr/>
        </p:nvSpPr>
        <p:spPr>
          <a:xfrm>
            <a:off x="6473952" y="3639312"/>
            <a:ext cx="493776" cy="493776"/>
          </a:xfrm>
          <a:prstGeom prst="ellipse">
            <a:avLst/>
          </a:prstGeom>
          <a:solidFill>
            <a:srgbClr val="01697C"/>
          </a:solidFill>
          <a:ln/>
        </p:spPr>
      </p:sp>
      <p:sp>
        <p:nvSpPr>
          <p:cNvPr id="23" name="Text 21"/>
          <p:cNvSpPr/>
          <p:nvPr/>
        </p:nvSpPr>
        <p:spPr>
          <a:xfrm>
            <a:off x="6473952" y="3639312"/>
            <a:ext cx="493776" cy="493776"/>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4" name="Text 22"/>
          <p:cNvSpPr/>
          <p:nvPr/>
        </p:nvSpPr>
        <p:spPr>
          <a:xfrm>
            <a:off x="7114032" y="3602736"/>
            <a:ext cx="4343400" cy="566928"/>
          </a:xfrm>
          <a:prstGeom prst="rect">
            <a:avLst/>
          </a:prstGeom>
          <a:noFill/>
          <a:ln/>
        </p:spPr>
        <p:txBody>
          <a:bodyPr wrap="square" lIns="0" tIns="0" rIns="0" bIns="0" rtlCol="0" anchor="ctr"/>
          <a:lstStyle/>
          <a:p>
            <a:pPr indent="0" marL="0">
              <a:buNone/>
            </a:pPr>
            <a:r>
              <a:rPr lang="en-US" sz="1450" b="1" dirty="0">
                <a:solidFill>
                  <a:srgbClr val="12263F"/>
                </a:solidFill>
                <a:latin typeface="Calibri" pitchFamily="34" charset="0"/>
                <a:ea typeface="Calibri" pitchFamily="34" charset="-122"/>
                <a:cs typeface="Calibri" pitchFamily="34" charset="-120"/>
              </a:rPr>
              <a:t>Our 'average' applicant does not exist</a:t>
            </a:r>
            <a:endParaRPr lang="en-US" sz="1450" dirty="0"/>
          </a:p>
        </p:txBody>
      </p:sp>
      <p:sp>
        <p:nvSpPr>
          <p:cNvPr id="25" name="Text 23"/>
          <p:cNvSpPr/>
          <p:nvPr/>
        </p:nvSpPr>
        <p:spPr>
          <a:xfrm>
            <a:off x="6473952" y="4242816"/>
            <a:ext cx="4937760" cy="896112"/>
          </a:xfrm>
          <a:prstGeom prst="rect">
            <a:avLst/>
          </a:prstGeom>
          <a:noFill/>
          <a:ln/>
        </p:spPr>
        <p:txBody>
          <a:bodyPr wrap="square" lIns="0" tIns="0" rIns="0" bIns="0" rtlCol="0" anchor="ctr"/>
          <a:lstStyle/>
          <a:p>
            <a:pPr indent="0" marL="0">
              <a:lnSpc>
                <a:spcPts val="1500"/>
              </a:lnSpc>
              <a:buNone/>
            </a:pPr>
            <a:r>
              <a:rPr lang="en-US" sz="1200" dirty="0">
                <a:solidFill>
                  <a:srgbClr val="3D4F60"/>
                </a:solidFill>
                <a:latin typeface="Calibri" pitchFamily="34" charset="0"/>
                <a:ea typeface="Calibri" pitchFamily="34" charset="-122"/>
                <a:cs typeface="Calibri" pitchFamily="34" charset="-120"/>
              </a:rPr>
              <a:t>A few very high earners pull the average income to 5,403, while the typical applicant earns 3,812 — a 41% overstatement.</a:t>
            </a:r>
            <a:endParaRPr lang="en-US" sz="1200" dirty="0"/>
          </a:p>
        </p:txBody>
      </p:sp>
      <p:sp>
        <p:nvSpPr>
          <p:cNvPr id="26" name="Shape 24"/>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7" name="Text 25"/>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8" name="Text 26"/>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One detail decides approval: credit history. Income, education and location are far weaker than most people assume.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The Data</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What we looked at</a:t>
            </a:r>
            <a:endParaRPr lang="en-US" sz="1350" dirty="0"/>
          </a:p>
        </p:txBody>
      </p:sp>
      <p:sp>
        <p:nvSpPr>
          <p:cNvPr id="6" name="Text 4"/>
          <p:cNvSpPr/>
          <p:nvPr/>
        </p:nvSpPr>
        <p:spPr>
          <a:xfrm>
            <a:off x="502920" y="1298448"/>
            <a:ext cx="484632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data.png">    </p:cNvPr>
          <p:cNvPicPr>
            <a:picLocks noChangeAspect="1"/>
          </p:cNvPicPr>
          <p:nvPr/>
        </p:nvPicPr>
        <p:blipFill>
          <a:blip r:embed="rId1"/>
          <a:stretch>
            <a:fillRect/>
          </a:stretch>
        </p:blipFill>
        <p:spPr>
          <a:xfrm>
            <a:off x="502920" y="1517904"/>
            <a:ext cx="4846320" cy="2871216"/>
          </a:xfrm>
          <a:prstGeom prst="rect">
            <a:avLst/>
          </a:prstGeom>
        </p:spPr>
      </p:pic>
      <p:sp>
        <p:nvSpPr>
          <p:cNvPr id="8" name="Text 5"/>
          <p:cNvSpPr/>
          <p:nvPr/>
        </p:nvSpPr>
        <p:spPr>
          <a:xfrm>
            <a:off x="502920" y="4572000"/>
            <a:ext cx="4846320" cy="914400"/>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Every figure in this deck comes from one file of 614 completed loan applications, each with 13 recorded details — income, credit history, property area, marital status and so on — plus the final decision.</a:t>
            </a:r>
            <a:endParaRPr lang="en-US" sz="1250" dirty="0"/>
          </a:p>
        </p:txBody>
      </p:sp>
      <p:sp>
        <p:nvSpPr>
          <p:cNvPr id="9" name="Shape 6"/>
          <p:cNvSpPr/>
          <p:nvPr/>
        </p:nvSpPr>
        <p:spPr>
          <a:xfrm>
            <a:off x="5806440" y="1517904"/>
            <a:ext cx="2788920" cy="1243584"/>
          </a:xfrm>
          <a:prstGeom prst="roundRect">
            <a:avLst>
              <a:gd name="adj" fmla="val 5882"/>
            </a:avLst>
          </a:prstGeom>
          <a:solidFill>
            <a:srgbClr val="F1F4F6"/>
          </a:solidFill>
          <a:ln w="12700">
            <a:solidFill>
              <a:srgbClr val="E8EDF1"/>
            </a:solidFill>
            <a:prstDash val="solid"/>
          </a:ln>
        </p:spPr>
      </p:sp>
      <p:sp>
        <p:nvSpPr>
          <p:cNvPr id="10" name="Text 7"/>
          <p:cNvSpPr/>
          <p:nvPr/>
        </p:nvSpPr>
        <p:spPr>
          <a:xfrm>
            <a:off x="5806440" y="1609344"/>
            <a:ext cx="2788920" cy="640080"/>
          </a:xfrm>
          <a:prstGeom prst="rect">
            <a:avLst/>
          </a:prstGeom>
          <a:noFill/>
          <a:ln/>
        </p:spPr>
        <p:txBody>
          <a:bodyPr wrap="square" lIns="0" tIns="0" rIns="0" bIns="0" rtlCol="0" anchor="ctr"/>
          <a:lstStyle/>
          <a:p>
            <a:pPr algn="ctr" indent="0" marL="0">
              <a:buNone/>
            </a:pPr>
            <a:r>
              <a:rPr lang="en-US" sz="2900" b="1" dirty="0">
                <a:solidFill>
                  <a:srgbClr val="01697C"/>
                </a:solidFill>
                <a:latin typeface="Cambria" pitchFamily="34" charset="0"/>
                <a:ea typeface="Cambria" pitchFamily="34" charset="-122"/>
                <a:cs typeface="Cambria" pitchFamily="34" charset="-120"/>
              </a:rPr>
              <a:t>614</a:t>
            </a:r>
            <a:endParaRPr lang="en-US" sz="2900" dirty="0"/>
          </a:p>
        </p:txBody>
      </p:sp>
      <p:sp>
        <p:nvSpPr>
          <p:cNvPr id="11" name="Text 8"/>
          <p:cNvSpPr/>
          <p:nvPr/>
        </p:nvSpPr>
        <p:spPr>
          <a:xfrm>
            <a:off x="5806440" y="2267712"/>
            <a:ext cx="278892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Applications reviewed</a:t>
            </a:r>
            <a:endParaRPr lang="en-US" sz="1100" dirty="0"/>
          </a:p>
        </p:txBody>
      </p:sp>
      <p:sp>
        <p:nvSpPr>
          <p:cNvPr id="12" name="Shape 9"/>
          <p:cNvSpPr/>
          <p:nvPr/>
        </p:nvSpPr>
        <p:spPr>
          <a:xfrm>
            <a:off x="8869680" y="1517904"/>
            <a:ext cx="2788920" cy="1243584"/>
          </a:xfrm>
          <a:prstGeom prst="roundRect">
            <a:avLst>
              <a:gd name="adj" fmla="val 5882"/>
            </a:avLst>
          </a:prstGeom>
          <a:solidFill>
            <a:srgbClr val="F1F4F6"/>
          </a:solidFill>
          <a:ln w="12700">
            <a:solidFill>
              <a:srgbClr val="E8EDF1"/>
            </a:solidFill>
            <a:prstDash val="solid"/>
          </a:ln>
        </p:spPr>
      </p:sp>
      <p:sp>
        <p:nvSpPr>
          <p:cNvPr id="13" name="Text 10"/>
          <p:cNvSpPr/>
          <p:nvPr/>
        </p:nvSpPr>
        <p:spPr>
          <a:xfrm>
            <a:off x="8869680" y="1609344"/>
            <a:ext cx="2788920" cy="640080"/>
          </a:xfrm>
          <a:prstGeom prst="rect">
            <a:avLst/>
          </a:prstGeom>
          <a:noFill/>
          <a:ln/>
        </p:spPr>
        <p:txBody>
          <a:bodyPr wrap="square" lIns="0" tIns="0" rIns="0" bIns="0" rtlCol="0" anchor="ctr"/>
          <a:lstStyle/>
          <a:p>
            <a:pPr algn="ctr" indent="0" marL="0">
              <a:buNone/>
            </a:pPr>
            <a:r>
              <a:rPr lang="en-US" sz="2900" b="1" dirty="0">
                <a:solidFill>
                  <a:srgbClr val="01697C"/>
                </a:solidFill>
                <a:latin typeface="Cambria" pitchFamily="34" charset="0"/>
                <a:ea typeface="Cambria" pitchFamily="34" charset="-122"/>
                <a:cs typeface="Cambria" pitchFamily="34" charset="-120"/>
              </a:rPr>
              <a:t>13</a:t>
            </a:r>
            <a:endParaRPr lang="en-US" sz="2900" dirty="0"/>
          </a:p>
        </p:txBody>
      </p:sp>
      <p:sp>
        <p:nvSpPr>
          <p:cNvPr id="14" name="Text 11"/>
          <p:cNvSpPr/>
          <p:nvPr/>
        </p:nvSpPr>
        <p:spPr>
          <a:xfrm>
            <a:off x="8869680" y="2267712"/>
            <a:ext cx="278892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Details per application</a:t>
            </a:r>
            <a:endParaRPr lang="en-US" sz="1100" dirty="0"/>
          </a:p>
        </p:txBody>
      </p:sp>
      <p:sp>
        <p:nvSpPr>
          <p:cNvPr id="15" name="Shape 12"/>
          <p:cNvSpPr/>
          <p:nvPr/>
        </p:nvSpPr>
        <p:spPr>
          <a:xfrm>
            <a:off x="5806440" y="2962656"/>
            <a:ext cx="2788920" cy="1243584"/>
          </a:xfrm>
          <a:prstGeom prst="roundRect">
            <a:avLst>
              <a:gd name="adj" fmla="val 5882"/>
            </a:avLst>
          </a:prstGeom>
          <a:solidFill>
            <a:srgbClr val="F1F4F6"/>
          </a:solidFill>
          <a:ln w="12700">
            <a:solidFill>
              <a:srgbClr val="E8EDF1"/>
            </a:solidFill>
            <a:prstDash val="solid"/>
          </a:ln>
        </p:spPr>
      </p:sp>
      <p:sp>
        <p:nvSpPr>
          <p:cNvPr id="16" name="Text 13"/>
          <p:cNvSpPr/>
          <p:nvPr/>
        </p:nvSpPr>
        <p:spPr>
          <a:xfrm>
            <a:off x="5806440" y="3054096"/>
            <a:ext cx="2788920" cy="640080"/>
          </a:xfrm>
          <a:prstGeom prst="rect">
            <a:avLst/>
          </a:prstGeom>
          <a:noFill/>
          <a:ln/>
        </p:spPr>
        <p:txBody>
          <a:bodyPr wrap="square" lIns="0" tIns="0" rIns="0" bIns="0" rtlCol="0" anchor="ctr"/>
          <a:lstStyle/>
          <a:p>
            <a:pPr algn="ctr" indent="0" marL="0">
              <a:buNone/>
            </a:pPr>
            <a:r>
              <a:rPr lang="en-US" sz="2900" b="1" dirty="0">
                <a:solidFill>
                  <a:srgbClr val="2E7D5B"/>
                </a:solidFill>
                <a:latin typeface="Cambria" pitchFamily="34" charset="0"/>
                <a:ea typeface="Cambria" pitchFamily="34" charset="-122"/>
                <a:cs typeface="Cambria" pitchFamily="34" charset="-120"/>
              </a:rPr>
              <a:t>0</a:t>
            </a:r>
            <a:endParaRPr lang="en-US" sz="2900" dirty="0"/>
          </a:p>
        </p:txBody>
      </p:sp>
      <p:sp>
        <p:nvSpPr>
          <p:cNvPr id="17" name="Text 14"/>
          <p:cNvSpPr/>
          <p:nvPr/>
        </p:nvSpPr>
        <p:spPr>
          <a:xfrm>
            <a:off x="5806440" y="3712464"/>
            <a:ext cx="278892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Counted twice</a:t>
            </a:r>
            <a:endParaRPr lang="en-US" sz="1100" dirty="0"/>
          </a:p>
        </p:txBody>
      </p:sp>
      <p:sp>
        <p:nvSpPr>
          <p:cNvPr id="18" name="Shape 15"/>
          <p:cNvSpPr/>
          <p:nvPr/>
        </p:nvSpPr>
        <p:spPr>
          <a:xfrm>
            <a:off x="8869680" y="2962656"/>
            <a:ext cx="2788920" cy="1243584"/>
          </a:xfrm>
          <a:prstGeom prst="roundRect">
            <a:avLst>
              <a:gd name="adj" fmla="val 5882"/>
            </a:avLst>
          </a:prstGeom>
          <a:solidFill>
            <a:srgbClr val="F1F4F6"/>
          </a:solidFill>
          <a:ln w="12700">
            <a:solidFill>
              <a:srgbClr val="E8EDF1"/>
            </a:solidFill>
            <a:prstDash val="solid"/>
          </a:ln>
        </p:spPr>
      </p:sp>
      <p:sp>
        <p:nvSpPr>
          <p:cNvPr id="19" name="Text 16"/>
          <p:cNvSpPr/>
          <p:nvPr/>
        </p:nvSpPr>
        <p:spPr>
          <a:xfrm>
            <a:off x="8869680" y="3054096"/>
            <a:ext cx="2788920" cy="640080"/>
          </a:xfrm>
          <a:prstGeom prst="rect">
            <a:avLst/>
          </a:prstGeom>
          <a:noFill/>
          <a:ln/>
        </p:spPr>
        <p:txBody>
          <a:bodyPr wrap="square" lIns="0" tIns="0" rIns="0" bIns="0" rtlCol="0" anchor="ctr"/>
          <a:lstStyle/>
          <a:p>
            <a:pPr algn="ctr" indent="0" marL="0">
              <a:buNone/>
            </a:pPr>
            <a:r>
              <a:rPr lang="en-US" sz="2900" b="1" dirty="0">
                <a:solidFill>
                  <a:srgbClr val="E8A33D"/>
                </a:solidFill>
                <a:latin typeface="Cambria" pitchFamily="34" charset="0"/>
                <a:ea typeface="Cambria" pitchFamily="34" charset="-122"/>
                <a:cs typeface="Cambria" pitchFamily="34" charset="-120"/>
              </a:rPr>
              <a:t>68.7%</a:t>
            </a:r>
            <a:endParaRPr lang="en-US" sz="2900" dirty="0"/>
          </a:p>
        </p:txBody>
      </p:sp>
      <p:sp>
        <p:nvSpPr>
          <p:cNvPr id="20" name="Text 17"/>
          <p:cNvSpPr/>
          <p:nvPr/>
        </p:nvSpPr>
        <p:spPr>
          <a:xfrm>
            <a:off x="8869680" y="3712464"/>
            <a:ext cx="278892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Were approved</a:t>
            </a:r>
            <a:endParaRPr lang="en-US" sz="1100" dirty="0"/>
          </a:p>
        </p:txBody>
      </p:sp>
      <p:sp>
        <p:nvSpPr>
          <p:cNvPr id="21" name="Shape 18"/>
          <p:cNvSpPr/>
          <p:nvPr/>
        </p:nvSpPr>
        <p:spPr>
          <a:xfrm>
            <a:off x="5806440" y="4407408"/>
            <a:ext cx="5852160" cy="1078992"/>
          </a:xfrm>
          <a:prstGeom prst="roundRect">
            <a:avLst>
              <a:gd name="adj" fmla="val 6780"/>
            </a:avLst>
          </a:prstGeom>
          <a:solidFill>
            <a:srgbClr val="12263F"/>
          </a:solidFill>
          <a:ln/>
        </p:spPr>
      </p:sp>
      <p:sp>
        <p:nvSpPr>
          <p:cNvPr id="22" name="Text 19"/>
          <p:cNvSpPr/>
          <p:nvPr/>
        </p:nvSpPr>
        <p:spPr>
          <a:xfrm>
            <a:off x="6080760" y="4407408"/>
            <a:ext cx="5303520" cy="1078992"/>
          </a:xfrm>
          <a:prstGeom prst="rect">
            <a:avLst/>
          </a:prstGeom>
          <a:noFill/>
          <a:ln/>
        </p:spPr>
        <p:txBody>
          <a:bodyPr wrap="square" lIns="0" tIns="0" rIns="0" bIns="0" rtlCol="0" anchor="ctr"/>
          <a:lstStyle/>
          <a:p>
            <a:pPr indent="0" marL="0">
              <a:buNone/>
            </a:pPr>
            <a:r>
              <a:rPr lang="en-US" sz="1350" b="1" dirty="0">
                <a:solidFill>
                  <a:srgbClr val="E8A33D"/>
                </a:solidFill>
                <a:latin typeface="Calibri" pitchFamily="34" charset="0"/>
                <a:ea typeface="Calibri" pitchFamily="34" charset="-122"/>
                <a:cs typeface="Calibri" pitchFamily="34" charset="-120"/>
              </a:rPr>
              <a:t>68.7% is our benchmark.  </a:t>
            </a:r>
            <a:pPr indent="0" marL="0">
              <a:buNone/>
            </a:pPr>
            <a:r>
              <a:rPr lang="en-US" sz="1250" dirty="0">
                <a:solidFill>
                  <a:srgbClr val="CADCFC"/>
                </a:solidFill>
                <a:latin typeface="Calibri" pitchFamily="34" charset="0"/>
                <a:ea typeface="Calibri" pitchFamily="34" charset="-122"/>
                <a:cs typeface="Calibri" pitchFamily="34" charset="-120"/>
              </a:rPr>
              <a:t>Any group approved near that rate tells us nothing new. Only groups far above or far below it are real findings.</a:t>
            </a:r>
            <a:endParaRPr lang="en-US" sz="1350" dirty="0"/>
          </a:p>
        </p:txBody>
      </p:sp>
      <p:sp>
        <p:nvSpPr>
          <p:cNvPr id="23" name="Shape 20"/>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4" name="Text 21"/>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5" name="Text 22"/>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614 clean applications, none duplicated, and roughly 7 in every 10 were approved. That 68.7% is the yardstick for everything that follows.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Cleaning the Data</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The gaps we found, and what we did about them</a:t>
            </a:r>
            <a:endParaRPr lang="en-US" sz="1350" dirty="0"/>
          </a:p>
        </p:txBody>
      </p:sp>
      <p:sp>
        <p:nvSpPr>
          <p:cNvPr id="6" name="Text 4"/>
          <p:cNvSpPr/>
          <p:nvPr/>
        </p:nvSpPr>
        <p:spPr>
          <a:xfrm>
            <a:off x="502920" y="1298448"/>
            <a:ext cx="457200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clean.png">    </p:cNvPr>
          <p:cNvPicPr>
            <a:picLocks noChangeAspect="1"/>
          </p:cNvPicPr>
          <p:nvPr/>
        </p:nvPicPr>
        <p:blipFill>
          <a:blip r:embed="rId1"/>
          <a:stretch>
            <a:fillRect/>
          </a:stretch>
        </p:blipFill>
        <p:spPr>
          <a:xfrm>
            <a:off x="502920" y="1517904"/>
            <a:ext cx="4572000" cy="3182112"/>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40680" y="1517904"/>
          <a:ext cx="6217920" cy="914400"/>
        </p:xfrm>
        <a:graphic>
          <a:graphicData uri="http://schemas.openxmlformats.org/drawingml/2006/table">
            <a:tbl>
              <a:tblPr/>
              <a:tblGrid>
                <a:gridCol w="1508760"/>
                <a:gridCol w="777240"/>
                <a:gridCol w="777240"/>
                <a:gridCol w="315468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Detail</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Blank</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Share</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solidFill>
                      <a:srgbClr val="12263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Does it matter?</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solidFill>
                      <a:srgbClr val="12263F"/>
                    </a:solidFill>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Credit history</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C1453C"/>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C1453C"/>
                          </a:solidFill>
                          <a:latin typeface="Calibri" pitchFamily="34" charset="0"/>
                          <a:ea typeface="Calibri" pitchFamily="34" charset="-122"/>
                          <a:cs typeface="Calibri" pitchFamily="34" charset="-120"/>
                        </a:rPr>
                        <a:t>8.1%</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Yes — this is the detail that decides approval</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Self employed</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E8A33D"/>
                          </a:solidFill>
                          <a:latin typeface="Calibri" pitchFamily="34" charset="0"/>
                          <a:ea typeface="Calibri" pitchFamily="34" charset="-122"/>
                          <a:cs typeface="Calibri" pitchFamily="34" charset="-120"/>
                        </a:rPr>
                        <a:t>32</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E8A33D"/>
                          </a:solidFill>
                          <a:latin typeface="Calibri" pitchFamily="34" charset="0"/>
                          <a:ea typeface="Calibri" pitchFamily="34" charset="-122"/>
                          <a:cs typeface="Calibri" pitchFamily="34" charset="-120"/>
                        </a:rPr>
                        <a:t>5.2%</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Minor</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Loan amount</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Minor</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Dependents</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2.4%</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Minor</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Loan term</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2.3%</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Minor</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Gender</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2.1%</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Minor</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r h="384048">
                <a:tc>
                  <a:txBody>
                    <a:bodyPr/>
                    <a:lstStyle/>
                    <a:p>
                      <a:pPr indent="0" marL="0">
                        <a:buNone/>
                      </a:pPr>
                      <a:r>
                        <a:rPr lang="en-US" sz="1150" b="1" dirty="0">
                          <a:solidFill>
                            <a:srgbClr val="22303F"/>
                          </a:solidFill>
                          <a:latin typeface="Calibri" pitchFamily="34" charset="0"/>
                          <a:ea typeface="Calibri" pitchFamily="34" charset="-122"/>
                          <a:cs typeface="Calibri" pitchFamily="34" charset="-120"/>
                        </a:rPr>
                        <a:t>Married</a:t>
                      </a:r>
                      <a:endParaRPr lang="en-US" sz="115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algn="ctr" indent="0" marL="0">
                        <a:buNone/>
                      </a:pPr>
                      <a:r>
                        <a:rPr lang="en-US" sz="1200" b="1" dirty="0">
                          <a:solidFill>
                            <a:srgbClr val="5A6B7C"/>
                          </a:solidFill>
                          <a:latin typeface="Calibri" pitchFamily="34" charset="0"/>
                          <a:ea typeface="Calibri" pitchFamily="34" charset="-122"/>
                          <a:cs typeface="Calibri" pitchFamily="34" charset="-120"/>
                        </a:rPr>
                        <a:t>0.5%</a:t>
                      </a:r>
                      <a:endParaRPr lang="en-US" sz="12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c>
                  <a:txBody>
                    <a:bodyPr/>
                    <a:lstStyle/>
                    <a:p>
                      <a:pPr indent="0" marL="0">
                        <a:buNone/>
                      </a:pPr>
                      <a:r>
                        <a:rPr lang="en-US" sz="1100" dirty="0">
                          <a:solidFill>
                            <a:srgbClr val="5A6B7C"/>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E8EDF1"/>
                      </a:solidFill>
                      <a:prstDash val="solid"/>
                      <a:round/>
                      <a:headEnd type="none" w="med" len="med"/>
                      <a:tailEnd type="none" w="med" len="med"/>
                    </a:lnL>
                    <a:lnR w="9525" cap="flat" cmpd="sng" algn="ctr">
                      <a:solidFill>
                        <a:srgbClr val="E8EDF1"/>
                      </a:solidFill>
                      <a:prstDash val="solid"/>
                      <a:round/>
                      <a:headEnd type="none" w="med" len="med"/>
                      <a:tailEnd type="none" w="med" len="med"/>
                    </a:lnR>
                    <a:lnT w="9525" cap="flat" cmpd="sng" algn="ctr">
                      <a:solidFill>
                        <a:srgbClr val="E8EDF1"/>
                      </a:solidFill>
                      <a:prstDash val="solid"/>
                      <a:round/>
                      <a:headEnd type="none" w="med" len="med"/>
                      <a:tailEnd type="none" w="med" len="med"/>
                    </a:lnT>
                    <a:lnB w="9525" cap="flat" cmpd="sng" algn="ctr">
                      <a:solidFill>
                        <a:srgbClr val="E8EDF1"/>
                      </a:solidFill>
                      <a:prstDash val="solid"/>
                      <a:round/>
                      <a:headEnd type="none" w="med" len="med"/>
                      <a:tailEnd type="none" w="med" len="med"/>
                    </a:lnB>
                  </a:tcPr>
                </a:tc>
              </a:tr>
            </a:tbl>
          </a:graphicData>
        </a:graphic>
      </p:graphicFrame>
      <p:sp>
        <p:nvSpPr>
          <p:cNvPr id="9" name="Shape 5"/>
          <p:cNvSpPr/>
          <p:nvPr/>
        </p:nvSpPr>
        <p:spPr>
          <a:xfrm>
            <a:off x="5440680" y="4626864"/>
            <a:ext cx="6217920" cy="859536"/>
          </a:xfrm>
          <a:prstGeom prst="roundRect">
            <a:avLst>
              <a:gd name="adj" fmla="val 8511"/>
            </a:avLst>
          </a:prstGeom>
          <a:solidFill>
            <a:srgbClr val="F1F4F6"/>
          </a:solidFill>
          <a:ln w="12700">
            <a:solidFill>
              <a:srgbClr val="E8EDF1"/>
            </a:solidFill>
            <a:prstDash val="solid"/>
          </a:ln>
        </p:spPr>
      </p:sp>
      <p:sp>
        <p:nvSpPr>
          <p:cNvPr id="10" name="Text 6"/>
          <p:cNvSpPr/>
          <p:nvPr/>
        </p:nvSpPr>
        <p:spPr>
          <a:xfrm>
            <a:off x="5669280" y="4626864"/>
            <a:ext cx="5760720" cy="859536"/>
          </a:xfrm>
          <a:prstGeom prst="rect">
            <a:avLst/>
          </a:prstGeom>
          <a:noFill/>
          <a:ln/>
        </p:spPr>
        <p:txBody>
          <a:bodyPr wrap="square" lIns="0" tIns="0" rIns="0" bIns="0" rtlCol="0" anchor="ctr"/>
          <a:lstStyle/>
          <a:p>
            <a:pPr indent="0" marL="0">
              <a:buNone/>
            </a:pPr>
            <a:r>
              <a:rPr lang="en-US" sz="1200" b="1" dirty="0">
                <a:solidFill>
                  <a:srgbClr val="12263F"/>
                </a:solidFill>
                <a:latin typeface="Calibri" pitchFamily="34" charset="0"/>
                <a:ea typeface="Calibri" pitchFamily="34" charset="-122"/>
                <a:cs typeface="Calibri" pitchFamily="34" charset="-120"/>
              </a:rPr>
              <a:t>What we did:  </a:t>
            </a:r>
            <a:pPr indent="0" marL="0">
              <a:buNone/>
            </a:pPr>
            <a:r>
              <a:rPr lang="en-US" sz="1200" dirty="0">
                <a:solidFill>
                  <a:srgbClr val="5A6B7C"/>
                </a:solidFill>
                <a:latin typeface="Calibri" pitchFamily="34" charset="0"/>
                <a:ea typeface="Calibri" pitchFamily="34" charset="-122"/>
                <a:cs typeface="Calibri" pitchFamily="34" charset="-120"/>
              </a:rPr>
              <a:t>we never guessed a missing value. Where a detail was blank, that application was simply left out of that particular comparison — so every number here comes from real records only.</a:t>
            </a:r>
            <a:endParaRPr lang="en-US" sz="1200" dirty="0"/>
          </a:p>
        </p:txBody>
      </p:sp>
      <p:sp>
        <p:nvSpPr>
          <p:cNvPr id="11" name="Shape 7"/>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12" name="Text 8"/>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13" name="Text 9"/>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Nothing was invented to fill a gap. The one real concern: the detail that matters most — credit history — is also the one most often left blank, on 1 in every 12 files.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Insight 1 — Credit History Decides</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Explaining the biggest finding</a:t>
            </a:r>
            <a:endParaRPr lang="en-US" sz="1350" dirty="0"/>
          </a:p>
        </p:txBody>
      </p:sp>
      <p:sp>
        <p:nvSpPr>
          <p:cNvPr id="6" name="Text 4"/>
          <p:cNvSpPr/>
          <p:nvPr/>
        </p:nvSpPr>
        <p:spPr>
          <a:xfrm>
            <a:off x="502920" y="1298448"/>
            <a:ext cx="512064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credit.png">    </p:cNvPr>
          <p:cNvPicPr>
            <a:picLocks noChangeAspect="1"/>
          </p:cNvPicPr>
          <p:nvPr/>
        </p:nvPicPr>
        <p:blipFill>
          <a:blip r:embed="rId1"/>
          <a:stretch>
            <a:fillRect/>
          </a:stretch>
        </p:blipFill>
        <p:spPr>
          <a:xfrm>
            <a:off x="502920" y="1517904"/>
            <a:ext cx="5120640" cy="1874520"/>
          </a:xfrm>
          <a:prstGeom prst="rect">
            <a:avLst/>
          </a:prstGeom>
        </p:spPr>
      </p:pic>
      <p:sp>
        <p:nvSpPr>
          <p:cNvPr id="8" name="Shape 5"/>
          <p:cNvSpPr/>
          <p:nvPr/>
        </p:nvSpPr>
        <p:spPr>
          <a:xfrm>
            <a:off x="502920" y="3611880"/>
            <a:ext cx="2468880" cy="1243584"/>
          </a:xfrm>
          <a:prstGeom prst="roundRect">
            <a:avLst>
              <a:gd name="adj" fmla="val 5882"/>
            </a:avLst>
          </a:prstGeom>
          <a:solidFill>
            <a:srgbClr val="F1F4F6"/>
          </a:solidFill>
          <a:ln w="12700">
            <a:solidFill>
              <a:srgbClr val="E8EDF1"/>
            </a:solidFill>
            <a:prstDash val="solid"/>
          </a:ln>
        </p:spPr>
      </p:sp>
      <p:sp>
        <p:nvSpPr>
          <p:cNvPr id="9" name="Text 6"/>
          <p:cNvSpPr/>
          <p:nvPr/>
        </p:nvSpPr>
        <p:spPr>
          <a:xfrm>
            <a:off x="502920" y="3703320"/>
            <a:ext cx="2468880" cy="640080"/>
          </a:xfrm>
          <a:prstGeom prst="rect">
            <a:avLst/>
          </a:prstGeom>
          <a:noFill/>
          <a:ln/>
        </p:spPr>
        <p:txBody>
          <a:bodyPr wrap="square" lIns="0" tIns="0" rIns="0" bIns="0" rtlCol="0" anchor="ctr"/>
          <a:lstStyle/>
          <a:p>
            <a:pPr algn="ctr" indent="0" marL="0">
              <a:buNone/>
            </a:pPr>
            <a:r>
              <a:rPr lang="en-US" sz="2900" b="1" dirty="0">
                <a:solidFill>
                  <a:srgbClr val="2E7D5B"/>
                </a:solidFill>
                <a:latin typeface="Cambria" pitchFamily="34" charset="0"/>
                <a:ea typeface="Cambria" pitchFamily="34" charset="-122"/>
                <a:cs typeface="Cambria" pitchFamily="34" charset="-120"/>
              </a:rPr>
              <a:t>79.6%</a:t>
            </a:r>
            <a:endParaRPr lang="en-US" sz="2900" dirty="0"/>
          </a:p>
        </p:txBody>
      </p:sp>
      <p:sp>
        <p:nvSpPr>
          <p:cNvPr id="10" name="Text 7"/>
          <p:cNvSpPr/>
          <p:nvPr/>
        </p:nvSpPr>
        <p:spPr>
          <a:xfrm>
            <a:off x="502920" y="4361688"/>
            <a:ext cx="246888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Approved WITH clean history</a:t>
            </a:r>
            <a:endParaRPr lang="en-US" sz="1100" dirty="0"/>
          </a:p>
        </p:txBody>
      </p:sp>
      <p:sp>
        <p:nvSpPr>
          <p:cNvPr id="11" name="Shape 8"/>
          <p:cNvSpPr/>
          <p:nvPr/>
        </p:nvSpPr>
        <p:spPr>
          <a:xfrm>
            <a:off x="3154680" y="3611880"/>
            <a:ext cx="2468880" cy="1243584"/>
          </a:xfrm>
          <a:prstGeom prst="roundRect">
            <a:avLst>
              <a:gd name="adj" fmla="val 5882"/>
            </a:avLst>
          </a:prstGeom>
          <a:solidFill>
            <a:srgbClr val="F1F4F6"/>
          </a:solidFill>
          <a:ln w="12700">
            <a:solidFill>
              <a:srgbClr val="E8EDF1"/>
            </a:solidFill>
            <a:prstDash val="solid"/>
          </a:ln>
        </p:spPr>
      </p:sp>
      <p:sp>
        <p:nvSpPr>
          <p:cNvPr id="12" name="Text 9"/>
          <p:cNvSpPr/>
          <p:nvPr/>
        </p:nvSpPr>
        <p:spPr>
          <a:xfrm>
            <a:off x="3154680" y="3703320"/>
            <a:ext cx="2468880" cy="640080"/>
          </a:xfrm>
          <a:prstGeom prst="rect">
            <a:avLst/>
          </a:prstGeom>
          <a:noFill/>
          <a:ln/>
        </p:spPr>
        <p:txBody>
          <a:bodyPr wrap="square" lIns="0" tIns="0" rIns="0" bIns="0" rtlCol="0" anchor="ctr"/>
          <a:lstStyle/>
          <a:p>
            <a:pPr algn="ctr" indent="0" marL="0">
              <a:buNone/>
            </a:pPr>
            <a:r>
              <a:rPr lang="en-US" sz="2900" b="1" dirty="0">
                <a:solidFill>
                  <a:srgbClr val="C1453C"/>
                </a:solidFill>
                <a:latin typeface="Cambria" pitchFamily="34" charset="0"/>
                <a:ea typeface="Cambria" pitchFamily="34" charset="-122"/>
                <a:cs typeface="Cambria" pitchFamily="34" charset="-120"/>
              </a:rPr>
              <a:t>7.9%</a:t>
            </a:r>
            <a:endParaRPr lang="en-US" sz="2900" dirty="0"/>
          </a:p>
        </p:txBody>
      </p:sp>
      <p:sp>
        <p:nvSpPr>
          <p:cNvPr id="13" name="Text 10"/>
          <p:cNvSpPr/>
          <p:nvPr/>
        </p:nvSpPr>
        <p:spPr>
          <a:xfrm>
            <a:off x="3154680" y="4361688"/>
            <a:ext cx="246888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Approved WITHOUT one</a:t>
            </a:r>
            <a:endParaRPr lang="en-US" sz="1100" dirty="0"/>
          </a:p>
        </p:txBody>
      </p:sp>
      <p:sp>
        <p:nvSpPr>
          <p:cNvPr id="14" name="Shape 11"/>
          <p:cNvSpPr/>
          <p:nvPr/>
        </p:nvSpPr>
        <p:spPr>
          <a:xfrm>
            <a:off x="502920" y="5038344"/>
            <a:ext cx="5120640" cy="448056"/>
          </a:xfrm>
          <a:prstGeom prst="roundRect">
            <a:avLst>
              <a:gd name="adj" fmla="val 12245"/>
            </a:avLst>
          </a:prstGeom>
          <a:solidFill>
            <a:srgbClr val="12263F"/>
          </a:solidFill>
          <a:ln/>
        </p:spPr>
      </p:sp>
      <p:sp>
        <p:nvSpPr>
          <p:cNvPr id="15" name="Text 12"/>
          <p:cNvSpPr/>
          <p:nvPr/>
        </p:nvSpPr>
        <p:spPr>
          <a:xfrm>
            <a:off x="685800" y="5038344"/>
            <a:ext cx="4754880" cy="448056"/>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Only 7 of 89 applicants without a clean record were approved.</a:t>
            </a:r>
            <a:endParaRPr lang="en-US" sz="1150" dirty="0"/>
          </a:p>
        </p:txBody>
      </p:sp>
      <p:sp>
        <p:nvSpPr>
          <p:cNvPr id="16" name="Text 13"/>
          <p:cNvSpPr/>
          <p:nvPr/>
        </p:nvSpPr>
        <p:spPr>
          <a:xfrm>
            <a:off x="5897880" y="1298448"/>
            <a:ext cx="5760720" cy="201168"/>
          </a:xfrm>
          <a:prstGeom prst="rect">
            <a:avLst/>
          </a:prstGeom>
          <a:noFill/>
          <a:ln/>
        </p:spPr>
        <p:txBody>
          <a:bodyPr wrap="square" lIns="0" tIns="0" rIns="0" bIns="0" rtlCol="0" anchor="ctr"/>
          <a:lstStyle/>
          <a:p>
            <a:pPr indent="0" marL="0">
              <a:buNone/>
            </a:pPr>
            <a:r>
              <a:rPr lang="en-US" sz="950" b="1" spc="120" kern="0" dirty="0">
                <a:solidFill>
                  <a:srgbClr val="01697C"/>
                </a:solidFill>
                <a:latin typeface="Calibri" pitchFamily="34" charset="0"/>
                <a:ea typeface="Calibri" pitchFamily="34" charset="-122"/>
                <a:cs typeface="Calibri" pitchFamily="34" charset="-120"/>
              </a:rPr>
              <a:t>WHAT THE CODE PRODUCED</a:t>
            </a:r>
            <a:endParaRPr lang="en-US" sz="950" dirty="0"/>
          </a:p>
        </p:txBody>
      </p:sp>
      <p:pic>
        <p:nvPicPr>
          <p:cNvPr id="17" name="Image 1" descr="/home/claude/img/s_credit.png">    </p:cNvPr>
          <p:cNvPicPr>
            <a:picLocks noChangeAspect="1"/>
          </p:cNvPicPr>
          <p:nvPr/>
        </p:nvPicPr>
        <p:blipFill>
          <a:blip r:embed="rId2"/>
          <a:stretch>
            <a:fillRect/>
          </a:stretch>
        </p:blipFill>
        <p:spPr>
          <a:xfrm>
            <a:off x="5897880" y="1517904"/>
            <a:ext cx="5760720" cy="3017520"/>
          </a:xfrm>
          <a:prstGeom prst="rect">
            <a:avLst/>
          </a:prstGeom>
        </p:spPr>
      </p:pic>
      <p:sp>
        <p:nvSpPr>
          <p:cNvPr id="18" name="Text 14"/>
          <p:cNvSpPr/>
          <p:nvPr/>
        </p:nvSpPr>
        <p:spPr>
          <a:xfrm>
            <a:off x="5897880" y="4663440"/>
            <a:ext cx="5760720" cy="822960"/>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Credit history is a simple yes/no record of whether an applicant has met their past repayment commitments. It is the single strongest signal in the entire dataset — stronger than income, education, location and marital status combined.</a:t>
            </a:r>
            <a:endParaRPr lang="en-US" sz="1250" dirty="0"/>
          </a:p>
        </p:txBody>
      </p:sp>
      <p:sp>
        <p:nvSpPr>
          <p:cNvPr id="19" name="Shape 15"/>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0" name="Text 16"/>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1" name="Text 17"/>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An applicant with a clean credit record is 10 times more likely to be approved. This one detail explains more than everything else we measured put together.</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Insight 2 — Income Does Not Decide</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The finding most people get wrong</a:t>
            </a:r>
            <a:endParaRPr lang="en-US" sz="1350" dirty="0"/>
          </a:p>
        </p:txBody>
      </p:sp>
      <p:sp>
        <p:nvSpPr>
          <p:cNvPr id="6" name="Text 4"/>
          <p:cNvSpPr/>
          <p:nvPr/>
        </p:nvSpPr>
        <p:spPr>
          <a:xfrm>
            <a:off x="502920" y="1298448"/>
            <a:ext cx="512064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income.png">    </p:cNvPr>
          <p:cNvPicPr>
            <a:picLocks noChangeAspect="1"/>
          </p:cNvPicPr>
          <p:nvPr/>
        </p:nvPicPr>
        <p:blipFill>
          <a:blip r:embed="rId1"/>
          <a:stretch>
            <a:fillRect/>
          </a:stretch>
        </p:blipFill>
        <p:spPr>
          <a:xfrm>
            <a:off x="502920" y="1517904"/>
            <a:ext cx="5120640" cy="1207008"/>
          </a:xfrm>
          <a:prstGeom prst="rect">
            <a:avLst/>
          </a:prstGeom>
        </p:spPr>
      </p:pic>
      <p:sp>
        <p:nvSpPr>
          <p:cNvPr id="8" name="Shape 5"/>
          <p:cNvSpPr/>
          <p:nvPr/>
        </p:nvSpPr>
        <p:spPr>
          <a:xfrm>
            <a:off x="502920" y="2944368"/>
            <a:ext cx="5120640" cy="1207008"/>
          </a:xfrm>
          <a:prstGeom prst="roundRect">
            <a:avLst>
              <a:gd name="adj" fmla="val 6061"/>
            </a:avLst>
          </a:prstGeom>
          <a:solidFill>
            <a:srgbClr val="F1F4F6"/>
          </a:solidFill>
          <a:ln w="12700">
            <a:solidFill>
              <a:srgbClr val="E8EDF1"/>
            </a:solidFill>
            <a:prstDash val="solid"/>
          </a:ln>
        </p:spPr>
      </p:sp>
      <p:sp>
        <p:nvSpPr>
          <p:cNvPr id="9" name="Text 6"/>
          <p:cNvSpPr/>
          <p:nvPr/>
        </p:nvSpPr>
        <p:spPr>
          <a:xfrm>
            <a:off x="777240" y="3054096"/>
            <a:ext cx="4572000" cy="25603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Two different questions</a:t>
            </a:r>
            <a:endParaRPr lang="en-US" sz="1300" dirty="0"/>
          </a:p>
        </p:txBody>
      </p:sp>
      <p:sp>
        <p:nvSpPr>
          <p:cNvPr id="10" name="Text 7"/>
          <p:cNvSpPr/>
          <p:nvPr/>
        </p:nvSpPr>
        <p:spPr>
          <a:xfrm>
            <a:off x="777240" y="3346704"/>
            <a:ext cx="4572000" cy="694944"/>
          </a:xfrm>
          <a:prstGeom prst="rect">
            <a:avLst/>
          </a:prstGeom>
          <a:noFill/>
          <a:ln/>
        </p:spPr>
        <p:txBody>
          <a:bodyPr wrap="square" lIns="0" tIns="0" rIns="0" bIns="0" rtlCol="0" anchor="ctr"/>
          <a:lstStyle/>
          <a:p>
            <a:pPr indent="0" marL="0">
              <a:buNone/>
            </a:pPr>
            <a:r>
              <a:rPr lang="en-US" sz="1200" b="1" dirty="0">
                <a:solidFill>
                  <a:srgbClr val="01697C"/>
                </a:solidFill>
                <a:latin typeface="Calibri" pitchFamily="34" charset="0"/>
                <a:ea typeface="Calibri" pitchFamily="34" charset="-122"/>
                <a:cs typeface="Calibri" pitchFamily="34" charset="-120"/>
              </a:rPr>
              <a:t>How much do you get?  </a:t>
            </a:r>
            <a:pPr indent="0" marL="0">
              <a:buNone/>
            </a:pPr>
            <a:r>
              <a:rPr lang="en-US" sz="1200" dirty="0">
                <a:solidFill>
                  <a:srgbClr val="5A6B7C"/>
                </a:solidFill>
                <a:latin typeface="Calibri" pitchFamily="34" charset="0"/>
                <a:ea typeface="Calibri" pitchFamily="34" charset="-122"/>
                <a:cs typeface="Calibri" pitchFamily="34" charset="-120"/>
              </a:rPr>
              <a:t>Income answers this well — higher earners do request and receive larger loans.</a:t>
            </a:r>
            <a:endParaRPr lang="en-US" sz="1200" dirty="0"/>
          </a:p>
        </p:txBody>
      </p:sp>
      <p:sp>
        <p:nvSpPr>
          <p:cNvPr id="11" name="Shape 8"/>
          <p:cNvSpPr/>
          <p:nvPr/>
        </p:nvSpPr>
        <p:spPr>
          <a:xfrm>
            <a:off x="502920" y="4279392"/>
            <a:ext cx="5120640" cy="1207008"/>
          </a:xfrm>
          <a:prstGeom prst="roundRect">
            <a:avLst>
              <a:gd name="adj" fmla="val 6061"/>
            </a:avLst>
          </a:prstGeom>
          <a:solidFill>
            <a:srgbClr val="FBEAE9"/>
          </a:solidFill>
          <a:ln w="15875">
            <a:solidFill>
              <a:srgbClr val="C1453C"/>
            </a:solidFill>
            <a:prstDash val="solid"/>
          </a:ln>
        </p:spPr>
      </p:sp>
      <p:sp>
        <p:nvSpPr>
          <p:cNvPr id="12" name="Text 9"/>
          <p:cNvSpPr/>
          <p:nvPr/>
        </p:nvSpPr>
        <p:spPr>
          <a:xfrm>
            <a:off x="777240" y="4389120"/>
            <a:ext cx="4572000" cy="25603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But not this one</a:t>
            </a:r>
            <a:endParaRPr lang="en-US" sz="1300" dirty="0"/>
          </a:p>
        </p:txBody>
      </p:sp>
      <p:sp>
        <p:nvSpPr>
          <p:cNvPr id="13" name="Text 10"/>
          <p:cNvSpPr/>
          <p:nvPr/>
        </p:nvSpPr>
        <p:spPr>
          <a:xfrm>
            <a:off x="777240" y="4681728"/>
            <a:ext cx="4572000" cy="694944"/>
          </a:xfrm>
          <a:prstGeom prst="rect">
            <a:avLst/>
          </a:prstGeom>
          <a:noFill/>
          <a:ln/>
        </p:spPr>
        <p:txBody>
          <a:bodyPr wrap="square" lIns="0" tIns="0" rIns="0" bIns="0" rtlCol="0" anchor="ctr"/>
          <a:lstStyle/>
          <a:p>
            <a:pPr indent="0" marL="0">
              <a:buNone/>
            </a:pPr>
            <a:r>
              <a:rPr lang="en-US" sz="1200" b="1" dirty="0">
                <a:solidFill>
                  <a:srgbClr val="C1453C"/>
                </a:solidFill>
                <a:latin typeface="Calibri" pitchFamily="34" charset="0"/>
                <a:ea typeface="Calibri" pitchFamily="34" charset="-122"/>
                <a:cs typeface="Calibri" pitchFamily="34" charset="-120"/>
              </a:rPr>
              <a:t>Do you get it at all?  </a:t>
            </a:r>
            <a:pPr indent="0" marL="0">
              <a:buNone/>
            </a:pPr>
            <a:r>
              <a:rPr lang="en-US" sz="1200" dirty="0">
                <a:solidFill>
                  <a:srgbClr val="3D4F60"/>
                </a:solidFill>
                <a:latin typeface="Calibri" pitchFamily="34" charset="0"/>
                <a:ea typeface="Calibri" pitchFamily="34" charset="-122"/>
                <a:cs typeface="Calibri" pitchFamily="34" charset="-120"/>
              </a:rPr>
              <a:t>Income answers this badly. Rejected applicants actually earn slightly more than approved ones.</a:t>
            </a:r>
            <a:endParaRPr lang="en-US" sz="1200" dirty="0"/>
          </a:p>
        </p:txBody>
      </p:sp>
      <p:sp>
        <p:nvSpPr>
          <p:cNvPr id="14" name="Text 11"/>
          <p:cNvSpPr/>
          <p:nvPr/>
        </p:nvSpPr>
        <p:spPr>
          <a:xfrm>
            <a:off x="5897880" y="1298448"/>
            <a:ext cx="5760720" cy="201168"/>
          </a:xfrm>
          <a:prstGeom prst="rect">
            <a:avLst/>
          </a:prstGeom>
          <a:noFill/>
          <a:ln/>
        </p:spPr>
        <p:txBody>
          <a:bodyPr wrap="square" lIns="0" tIns="0" rIns="0" bIns="0" rtlCol="0" anchor="ctr"/>
          <a:lstStyle/>
          <a:p>
            <a:pPr indent="0" marL="0">
              <a:buNone/>
            </a:pPr>
            <a:r>
              <a:rPr lang="en-US" sz="950" b="1" spc="120" kern="0" dirty="0">
                <a:solidFill>
                  <a:srgbClr val="01697C"/>
                </a:solidFill>
                <a:latin typeface="Calibri" pitchFamily="34" charset="0"/>
                <a:ea typeface="Calibri" pitchFamily="34" charset="-122"/>
                <a:cs typeface="Calibri" pitchFamily="34" charset="-120"/>
              </a:rPr>
              <a:t>WHAT THE CODE PRODUCED</a:t>
            </a:r>
            <a:endParaRPr lang="en-US" sz="950" dirty="0"/>
          </a:p>
        </p:txBody>
      </p:sp>
      <p:pic>
        <p:nvPicPr>
          <p:cNvPr id="15" name="Image 1" descr="/home/claude/img/s_income.png">    </p:cNvPr>
          <p:cNvPicPr>
            <a:picLocks noChangeAspect="1"/>
          </p:cNvPicPr>
          <p:nvPr/>
        </p:nvPicPr>
        <p:blipFill>
          <a:blip r:embed="rId2"/>
          <a:stretch>
            <a:fillRect/>
          </a:stretch>
        </p:blipFill>
        <p:spPr>
          <a:xfrm>
            <a:off x="5897880" y="1517904"/>
            <a:ext cx="5760720" cy="3017520"/>
          </a:xfrm>
          <a:prstGeom prst="rect">
            <a:avLst/>
          </a:prstGeom>
        </p:spPr>
      </p:pic>
      <p:sp>
        <p:nvSpPr>
          <p:cNvPr id="16" name="Text 12"/>
          <p:cNvSpPr/>
          <p:nvPr/>
        </p:nvSpPr>
        <p:spPr>
          <a:xfrm>
            <a:off x="5897880" y="4663440"/>
            <a:ext cx="5760720" cy="822960"/>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If income decided approval, the green bar would tower over the red one. It does not — the two are within 21 of each other. A wealthy applicant with no credit record is still rejected.</a:t>
            </a:r>
            <a:endParaRPr lang="en-US" sz="1250" dirty="0"/>
          </a:p>
        </p:txBody>
      </p:sp>
      <p:sp>
        <p:nvSpPr>
          <p:cNvPr id="17" name="Shape 13"/>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18" name="Text 14"/>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19" name="Text 15"/>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Earning more gets you a bigger loan, not a better chance of approval. Income should size the offer — it should never screen the applicant.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Insight 3 — Location Nudges, It Doesn’t Decide</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A real difference, but a small one</a:t>
            </a:r>
            <a:endParaRPr lang="en-US" sz="1350" dirty="0"/>
          </a:p>
        </p:txBody>
      </p:sp>
      <p:sp>
        <p:nvSpPr>
          <p:cNvPr id="6" name="Text 4"/>
          <p:cNvSpPr/>
          <p:nvPr/>
        </p:nvSpPr>
        <p:spPr>
          <a:xfrm>
            <a:off x="502920" y="1298448"/>
            <a:ext cx="512064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property.png">    </p:cNvPr>
          <p:cNvPicPr>
            <a:picLocks noChangeAspect="1"/>
          </p:cNvPicPr>
          <p:nvPr/>
        </p:nvPicPr>
        <p:blipFill>
          <a:blip r:embed="rId1"/>
          <a:stretch>
            <a:fillRect/>
          </a:stretch>
        </p:blipFill>
        <p:spPr>
          <a:xfrm>
            <a:off x="502920" y="1517904"/>
            <a:ext cx="5120640" cy="2130552"/>
          </a:xfrm>
          <a:prstGeom prst="rect">
            <a:avLst/>
          </a:prstGeom>
        </p:spPr>
      </p:pic>
      <p:sp>
        <p:nvSpPr>
          <p:cNvPr id="8" name="Shape 5"/>
          <p:cNvSpPr/>
          <p:nvPr/>
        </p:nvSpPr>
        <p:spPr>
          <a:xfrm>
            <a:off x="502920" y="3858768"/>
            <a:ext cx="5120640" cy="1627632"/>
          </a:xfrm>
          <a:prstGeom prst="roundRect">
            <a:avLst>
              <a:gd name="adj" fmla="val 4494"/>
            </a:avLst>
          </a:prstGeom>
          <a:solidFill>
            <a:srgbClr val="F1F4F6"/>
          </a:solidFill>
          <a:ln w="12700">
            <a:solidFill>
              <a:srgbClr val="E8EDF1"/>
            </a:solidFill>
            <a:prstDash val="solid"/>
          </a:ln>
        </p:spPr>
      </p:sp>
      <p:sp>
        <p:nvSpPr>
          <p:cNvPr id="9" name="Text 6"/>
          <p:cNvSpPr/>
          <p:nvPr/>
        </p:nvSpPr>
        <p:spPr>
          <a:xfrm>
            <a:off x="777240" y="3968496"/>
            <a:ext cx="4572000" cy="256032"/>
          </a:xfrm>
          <a:prstGeom prst="rect">
            <a:avLst/>
          </a:prstGeom>
          <a:noFill/>
          <a:ln/>
        </p:spPr>
        <p:txBody>
          <a:bodyPr wrap="square" lIns="0" tIns="0" rIns="0" bIns="0" rtlCol="0" anchor="ctr"/>
          <a:lstStyle/>
          <a:p>
            <a:pPr indent="0" marL="0">
              <a:buNone/>
            </a:pPr>
            <a:r>
              <a:rPr lang="en-US" sz="1300" b="1" dirty="0">
                <a:solidFill>
                  <a:srgbClr val="12263F"/>
                </a:solidFill>
                <a:latin typeface="Calibri" pitchFamily="34" charset="0"/>
                <a:ea typeface="Calibri" pitchFamily="34" charset="-122"/>
                <a:cs typeface="Calibri" pitchFamily="34" charset="-120"/>
              </a:rPr>
              <a:t>Small ≠ nothing</a:t>
            </a:r>
            <a:endParaRPr lang="en-US" sz="1300" dirty="0"/>
          </a:p>
        </p:txBody>
      </p:sp>
      <p:sp>
        <p:nvSpPr>
          <p:cNvPr id="10" name="Text 7"/>
          <p:cNvSpPr/>
          <p:nvPr/>
        </p:nvSpPr>
        <p:spPr>
          <a:xfrm>
            <a:off x="777240" y="4261104"/>
            <a:ext cx="4572000" cy="1097280"/>
          </a:xfrm>
          <a:prstGeom prst="rect">
            <a:avLst/>
          </a:prstGeom>
          <a:noFill/>
          <a:ln/>
        </p:spPr>
        <p:txBody>
          <a:bodyPr wrap="square" lIns="0" tIns="0" rIns="0" bIns="0" rtlCol="0" anchor="ctr"/>
          <a:lstStyle/>
          <a:p>
            <a:pPr indent="0" marL="0">
              <a:buNone/>
            </a:pPr>
            <a:r>
              <a:rPr lang="en-US" sz="1200" dirty="0">
                <a:solidFill>
                  <a:srgbClr val="5A6B7C"/>
                </a:solidFill>
                <a:latin typeface="Calibri" pitchFamily="34" charset="0"/>
                <a:ea typeface="Calibri" pitchFamily="34" charset="-122"/>
                <a:cs typeface="Calibri" pitchFamily="34" charset="-120"/>
              </a:rPr>
              <a:t>A 15-point spread between semiurban and rural applicants is genuine, not chance. But next to credit history it is a whisper against a shout. Worth watching; not worth writing into a rule until we understand why.</a:t>
            </a:r>
            <a:endParaRPr lang="en-US" sz="1200" dirty="0"/>
          </a:p>
        </p:txBody>
      </p:sp>
      <p:sp>
        <p:nvSpPr>
          <p:cNvPr id="11" name="Text 8"/>
          <p:cNvSpPr/>
          <p:nvPr/>
        </p:nvSpPr>
        <p:spPr>
          <a:xfrm>
            <a:off x="5897880" y="1298448"/>
            <a:ext cx="5760720" cy="201168"/>
          </a:xfrm>
          <a:prstGeom prst="rect">
            <a:avLst/>
          </a:prstGeom>
          <a:noFill/>
          <a:ln/>
        </p:spPr>
        <p:txBody>
          <a:bodyPr wrap="square" lIns="0" tIns="0" rIns="0" bIns="0" rtlCol="0" anchor="ctr"/>
          <a:lstStyle/>
          <a:p>
            <a:pPr indent="0" marL="0">
              <a:buNone/>
            </a:pPr>
            <a:r>
              <a:rPr lang="en-US" sz="950" b="1" spc="120" kern="0" dirty="0">
                <a:solidFill>
                  <a:srgbClr val="01697C"/>
                </a:solidFill>
                <a:latin typeface="Calibri" pitchFamily="34" charset="0"/>
                <a:ea typeface="Calibri" pitchFamily="34" charset="-122"/>
                <a:cs typeface="Calibri" pitchFamily="34" charset="-120"/>
              </a:rPr>
              <a:t>WHAT THE CODE PRODUCED</a:t>
            </a:r>
            <a:endParaRPr lang="en-US" sz="950" dirty="0"/>
          </a:p>
        </p:txBody>
      </p:sp>
      <p:pic>
        <p:nvPicPr>
          <p:cNvPr id="12" name="Image 1" descr="/home/claude/img/s_property.png">    </p:cNvPr>
          <p:cNvPicPr>
            <a:picLocks noChangeAspect="1"/>
          </p:cNvPicPr>
          <p:nvPr/>
        </p:nvPicPr>
        <p:blipFill>
          <a:blip r:embed="rId2"/>
          <a:stretch>
            <a:fillRect/>
          </a:stretch>
        </p:blipFill>
        <p:spPr>
          <a:xfrm>
            <a:off x="5897880" y="1517904"/>
            <a:ext cx="5760720" cy="3017520"/>
          </a:xfrm>
          <a:prstGeom prst="rect">
            <a:avLst/>
          </a:prstGeom>
        </p:spPr>
      </p:pic>
      <p:sp>
        <p:nvSpPr>
          <p:cNvPr id="13" name="Text 9"/>
          <p:cNvSpPr/>
          <p:nvPr/>
        </p:nvSpPr>
        <p:spPr>
          <a:xfrm>
            <a:off x="5897880" y="4663440"/>
            <a:ext cx="5760720" cy="822960"/>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All three areas sit reasonably close to our 68.7% benchmark. Semiurban applicants edge above it, rural applicants fall below — but every area still has a solid majority approved.</a:t>
            </a:r>
            <a:endParaRPr lang="en-US" sz="1250" dirty="0"/>
          </a:p>
        </p:txBody>
      </p:sp>
      <p:sp>
        <p:nvSpPr>
          <p:cNvPr id="14" name="Shape 10"/>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15" name="Text 11"/>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16" name="Text 12"/>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Semiurban applicants do best and rural applicants worst, but the gap is modest. Location is worth monitoring — it is not worth a policy change.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Insight 4 — The “Average” Applicant Doesn’t Exist</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Why we report the typical figure, not the average</a:t>
            </a:r>
            <a:endParaRPr lang="en-US" sz="1350" dirty="0"/>
          </a:p>
        </p:txBody>
      </p:sp>
      <p:sp>
        <p:nvSpPr>
          <p:cNvPr id="6" name="Text 4"/>
          <p:cNvSpPr/>
          <p:nvPr/>
        </p:nvSpPr>
        <p:spPr>
          <a:xfrm>
            <a:off x="502920" y="1298448"/>
            <a:ext cx="5120640" cy="201168"/>
          </a:xfrm>
          <a:prstGeom prst="rect">
            <a:avLst/>
          </a:prstGeom>
          <a:noFill/>
          <a:ln/>
        </p:spPr>
        <p:txBody>
          <a:bodyPr wrap="square" lIns="0" tIns="0" rIns="0" bIns="0" rtlCol="0" anchor="ctr"/>
          <a:lstStyle/>
          <a:p>
            <a:pPr indent="0" marL="0">
              <a:buNone/>
            </a:pPr>
            <a:r>
              <a:rPr lang="en-US" sz="950" b="1" spc="120" kern="0" dirty="0">
                <a:solidFill>
                  <a:srgbClr val="58C0D6"/>
                </a:solidFill>
                <a:latin typeface="Calibri" pitchFamily="34" charset="0"/>
                <a:ea typeface="Calibri" pitchFamily="34" charset="-122"/>
                <a:cs typeface="Calibri" pitchFamily="34" charset="-120"/>
              </a:rPr>
              <a:t>THE CODE</a:t>
            </a:r>
            <a:endParaRPr lang="en-US" sz="950" dirty="0"/>
          </a:p>
        </p:txBody>
      </p:sp>
      <p:pic>
        <p:nvPicPr>
          <p:cNvPr id="7" name="Image 0" descr="/home/claude/img/c_skew.png">    </p:cNvPr>
          <p:cNvPicPr>
            <a:picLocks noChangeAspect="1"/>
          </p:cNvPicPr>
          <p:nvPr/>
        </p:nvPicPr>
        <p:blipFill>
          <a:blip r:embed="rId1"/>
          <a:stretch>
            <a:fillRect/>
          </a:stretch>
        </p:blipFill>
        <p:spPr>
          <a:xfrm>
            <a:off x="502920" y="1517904"/>
            <a:ext cx="5120640" cy="1947672"/>
          </a:xfrm>
          <a:prstGeom prst="rect">
            <a:avLst/>
          </a:prstGeom>
        </p:spPr>
      </p:pic>
      <p:sp>
        <p:nvSpPr>
          <p:cNvPr id="8" name="Shape 5"/>
          <p:cNvSpPr/>
          <p:nvPr/>
        </p:nvSpPr>
        <p:spPr>
          <a:xfrm>
            <a:off x="502920" y="3675888"/>
            <a:ext cx="2468880" cy="1243584"/>
          </a:xfrm>
          <a:prstGeom prst="roundRect">
            <a:avLst>
              <a:gd name="adj" fmla="val 5882"/>
            </a:avLst>
          </a:prstGeom>
          <a:solidFill>
            <a:srgbClr val="F1F4F6"/>
          </a:solidFill>
          <a:ln w="12700">
            <a:solidFill>
              <a:srgbClr val="E8EDF1"/>
            </a:solidFill>
            <a:prstDash val="solid"/>
          </a:ln>
        </p:spPr>
      </p:sp>
      <p:sp>
        <p:nvSpPr>
          <p:cNvPr id="9" name="Text 6"/>
          <p:cNvSpPr/>
          <p:nvPr/>
        </p:nvSpPr>
        <p:spPr>
          <a:xfrm>
            <a:off x="502920" y="3767328"/>
            <a:ext cx="2468880" cy="640080"/>
          </a:xfrm>
          <a:prstGeom prst="rect">
            <a:avLst/>
          </a:prstGeom>
          <a:noFill/>
          <a:ln/>
        </p:spPr>
        <p:txBody>
          <a:bodyPr wrap="square" lIns="0" tIns="0" rIns="0" bIns="0" rtlCol="0" anchor="ctr"/>
          <a:lstStyle/>
          <a:p>
            <a:pPr algn="ctr" indent="0" marL="0">
              <a:buNone/>
            </a:pPr>
            <a:r>
              <a:rPr lang="en-US" sz="2900" b="1" dirty="0">
                <a:solidFill>
                  <a:srgbClr val="C1453C"/>
                </a:solidFill>
                <a:latin typeface="Cambria" pitchFamily="34" charset="0"/>
                <a:ea typeface="Cambria" pitchFamily="34" charset="-122"/>
                <a:cs typeface="Cambria" pitchFamily="34" charset="-120"/>
              </a:rPr>
              <a:t>5,403</a:t>
            </a:r>
            <a:endParaRPr lang="en-US" sz="2900" dirty="0"/>
          </a:p>
        </p:txBody>
      </p:sp>
      <p:sp>
        <p:nvSpPr>
          <p:cNvPr id="10" name="Text 7"/>
          <p:cNvSpPr/>
          <p:nvPr/>
        </p:nvSpPr>
        <p:spPr>
          <a:xfrm>
            <a:off x="502920" y="4425696"/>
            <a:ext cx="246888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The “average” income</a:t>
            </a:r>
            <a:endParaRPr lang="en-US" sz="1100" dirty="0"/>
          </a:p>
        </p:txBody>
      </p:sp>
      <p:sp>
        <p:nvSpPr>
          <p:cNvPr id="11" name="Shape 8"/>
          <p:cNvSpPr/>
          <p:nvPr/>
        </p:nvSpPr>
        <p:spPr>
          <a:xfrm>
            <a:off x="3154680" y="3675888"/>
            <a:ext cx="2468880" cy="1243584"/>
          </a:xfrm>
          <a:prstGeom prst="roundRect">
            <a:avLst>
              <a:gd name="adj" fmla="val 5882"/>
            </a:avLst>
          </a:prstGeom>
          <a:solidFill>
            <a:srgbClr val="F1F4F6"/>
          </a:solidFill>
          <a:ln w="12700">
            <a:solidFill>
              <a:srgbClr val="E8EDF1"/>
            </a:solidFill>
            <a:prstDash val="solid"/>
          </a:ln>
        </p:spPr>
      </p:sp>
      <p:sp>
        <p:nvSpPr>
          <p:cNvPr id="12" name="Text 9"/>
          <p:cNvSpPr/>
          <p:nvPr/>
        </p:nvSpPr>
        <p:spPr>
          <a:xfrm>
            <a:off x="3154680" y="3767328"/>
            <a:ext cx="2468880" cy="640080"/>
          </a:xfrm>
          <a:prstGeom prst="rect">
            <a:avLst/>
          </a:prstGeom>
          <a:noFill/>
          <a:ln/>
        </p:spPr>
        <p:txBody>
          <a:bodyPr wrap="square" lIns="0" tIns="0" rIns="0" bIns="0" rtlCol="0" anchor="ctr"/>
          <a:lstStyle/>
          <a:p>
            <a:pPr algn="ctr" indent="0" marL="0">
              <a:buNone/>
            </a:pPr>
            <a:r>
              <a:rPr lang="en-US" sz="2900" b="1" dirty="0">
                <a:solidFill>
                  <a:srgbClr val="2E7D5B"/>
                </a:solidFill>
                <a:latin typeface="Cambria" pitchFamily="34" charset="0"/>
                <a:ea typeface="Cambria" pitchFamily="34" charset="-122"/>
                <a:cs typeface="Cambria" pitchFamily="34" charset="-120"/>
              </a:rPr>
              <a:t>3,812</a:t>
            </a:r>
            <a:endParaRPr lang="en-US" sz="2900" dirty="0"/>
          </a:p>
        </p:txBody>
      </p:sp>
      <p:sp>
        <p:nvSpPr>
          <p:cNvPr id="13" name="Text 10"/>
          <p:cNvSpPr/>
          <p:nvPr/>
        </p:nvSpPr>
        <p:spPr>
          <a:xfrm>
            <a:off x="3154680" y="4425696"/>
            <a:ext cx="2468880" cy="402336"/>
          </a:xfrm>
          <a:prstGeom prst="rect">
            <a:avLst/>
          </a:prstGeom>
          <a:noFill/>
          <a:ln/>
        </p:spPr>
        <p:txBody>
          <a:bodyPr wrap="square" lIns="0" tIns="0" rIns="0" bIns="0" rtlCol="0" anchor="t"/>
          <a:lstStyle/>
          <a:p>
            <a:pPr algn="ctr" indent="0" marL="0">
              <a:buNone/>
            </a:pPr>
            <a:r>
              <a:rPr lang="en-US" sz="1100" dirty="0">
                <a:solidFill>
                  <a:srgbClr val="5A6B7C"/>
                </a:solidFill>
                <a:latin typeface="Calibri" pitchFamily="34" charset="0"/>
                <a:ea typeface="Calibri" pitchFamily="34" charset="-122"/>
                <a:cs typeface="Calibri" pitchFamily="34" charset="-120"/>
              </a:rPr>
              <a:t>The typical income</a:t>
            </a:r>
            <a:endParaRPr lang="en-US" sz="1100" dirty="0"/>
          </a:p>
        </p:txBody>
      </p:sp>
      <p:sp>
        <p:nvSpPr>
          <p:cNvPr id="14" name="Shape 11"/>
          <p:cNvSpPr/>
          <p:nvPr/>
        </p:nvSpPr>
        <p:spPr>
          <a:xfrm>
            <a:off x="502920" y="5102352"/>
            <a:ext cx="5120640" cy="384048"/>
          </a:xfrm>
          <a:prstGeom prst="roundRect">
            <a:avLst>
              <a:gd name="adj" fmla="val 14286"/>
            </a:avLst>
          </a:prstGeom>
          <a:solidFill>
            <a:srgbClr val="12263F"/>
          </a:solidFill>
          <a:ln/>
        </p:spPr>
      </p:sp>
      <p:sp>
        <p:nvSpPr>
          <p:cNvPr id="15" name="Text 12"/>
          <p:cNvSpPr/>
          <p:nvPr/>
        </p:nvSpPr>
        <p:spPr>
          <a:xfrm>
            <a:off x="685800" y="5102352"/>
            <a:ext cx="4754880" cy="384048"/>
          </a:xfrm>
          <a:prstGeom prst="rect">
            <a:avLst/>
          </a:prstGeom>
          <a:noFill/>
          <a:ln/>
        </p:spPr>
        <p:txBody>
          <a:bodyPr wrap="square" lIns="0" tIns="0" rIns="0" bIns="0" rtlCol="0" anchor="ctr"/>
          <a:lstStyle/>
          <a:p>
            <a:pPr indent="0" marL="0">
              <a:buNone/>
            </a:pPr>
            <a:r>
              <a:rPr lang="en-US" sz="1150" b="1" dirty="0">
                <a:solidFill>
                  <a:srgbClr val="E8A33D"/>
                </a:solidFill>
                <a:latin typeface="Calibri" pitchFamily="34" charset="0"/>
                <a:ea typeface="Calibri" pitchFamily="34" charset="-122"/>
                <a:cs typeface="Calibri" pitchFamily="34" charset="-120"/>
              </a:rPr>
              <a:t>The average overstates our typical applicant by 41%.</a:t>
            </a:r>
            <a:endParaRPr lang="en-US" sz="1150" dirty="0"/>
          </a:p>
        </p:txBody>
      </p:sp>
      <p:sp>
        <p:nvSpPr>
          <p:cNvPr id="16" name="Text 13"/>
          <p:cNvSpPr/>
          <p:nvPr/>
        </p:nvSpPr>
        <p:spPr>
          <a:xfrm>
            <a:off x="5897880" y="1298448"/>
            <a:ext cx="5760720" cy="201168"/>
          </a:xfrm>
          <a:prstGeom prst="rect">
            <a:avLst/>
          </a:prstGeom>
          <a:noFill/>
          <a:ln/>
        </p:spPr>
        <p:txBody>
          <a:bodyPr wrap="square" lIns="0" tIns="0" rIns="0" bIns="0" rtlCol="0" anchor="ctr"/>
          <a:lstStyle/>
          <a:p>
            <a:pPr indent="0" marL="0">
              <a:buNone/>
            </a:pPr>
            <a:r>
              <a:rPr lang="en-US" sz="950" b="1" spc="120" kern="0" dirty="0">
                <a:solidFill>
                  <a:srgbClr val="01697C"/>
                </a:solidFill>
                <a:latin typeface="Calibri" pitchFamily="34" charset="0"/>
                <a:ea typeface="Calibri" pitchFamily="34" charset="-122"/>
                <a:cs typeface="Calibri" pitchFamily="34" charset="-120"/>
              </a:rPr>
              <a:t>WHAT THE CODE PRODUCED</a:t>
            </a:r>
            <a:endParaRPr lang="en-US" sz="950" dirty="0"/>
          </a:p>
        </p:txBody>
      </p:sp>
      <p:pic>
        <p:nvPicPr>
          <p:cNvPr id="17" name="Image 1" descr="/home/claude/img/s_skew.png">    </p:cNvPr>
          <p:cNvPicPr>
            <a:picLocks noChangeAspect="1"/>
          </p:cNvPicPr>
          <p:nvPr/>
        </p:nvPicPr>
        <p:blipFill>
          <a:blip r:embed="rId2"/>
          <a:stretch>
            <a:fillRect/>
          </a:stretch>
        </p:blipFill>
        <p:spPr>
          <a:xfrm>
            <a:off x="5897880" y="1517904"/>
            <a:ext cx="5760720" cy="3017520"/>
          </a:xfrm>
          <a:prstGeom prst="rect">
            <a:avLst/>
          </a:prstGeom>
        </p:spPr>
      </p:pic>
      <p:sp>
        <p:nvSpPr>
          <p:cNvPr id="18" name="Text 14"/>
          <p:cNvSpPr/>
          <p:nvPr/>
        </p:nvSpPr>
        <p:spPr>
          <a:xfrm>
            <a:off x="5897880" y="4663440"/>
            <a:ext cx="5760720" cy="822960"/>
          </a:xfrm>
          <a:prstGeom prst="rect">
            <a:avLst/>
          </a:prstGeom>
          <a:noFill/>
          <a:ln/>
        </p:spPr>
        <p:txBody>
          <a:bodyPr wrap="square" lIns="0" tIns="0" rIns="0" bIns="0" rtlCol="0" anchor="ctr"/>
          <a:lstStyle/>
          <a:p>
            <a:pPr indent="0" marL="0">
              <a:buNone/>
            </a:pPr>
            <a:r>
              <a:rPr lang="en-US" sz="1250" dirty="0">
                <a:solidFill>
                  <a:srgbClr val="5A6B7C"/>
                </a:solidFill>
                <a:latin typeface="Calibri" pitchFamily="34" charset="0"/>
                <a:ea typeface="Calibri" pitchFamily="34" charset="-122"/>
                <a:cs typeface="Calibri" pitchFamily="34" charset="-120"/>
              </a:rPr>
              <a:t>Most applicants are bunched on the left. The long tail stretching right is a small number of very high earners — and they are enough to drag the average away from almost everybody.</a:t>
            </a:r>
            <a:endParaRPr lang="en-US" sz="1250" dirty="0"/>
          </a:p>
        </p:txBody>
      </p:sp>
      <p:sp>
        <p:nvSpPr>
          <p:cNvPr id="19" name="Shape 15"/>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0" name="Text 16"/>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1" name="Text 17"/>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A handful of very wealthy applicants pull the average up until it describes nobody. Set a threshold on the average and you calibrate it to an applicant who barely exists.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548640" cy="548640"/>
          </a:xfrm>
          <a:prstGeom prst="ellipse">
            <a:avLst/>
          </a:prstGeom>
          <a:solidFill>
            <a:srgbClr val="01697C"/>
          </a:solidFill>
          <a:ln/>
        </p:spPr>
      </p:sp>
      <p:sp>
        <p:nvSpPr>
          <p:cNvPr id="3" name="Text 1"/>
          <p:cNvSpPr/>
          <p:nvPr/>
        </p:nvSpPr>
        <p:spPr>
          <a:xfrm>
            <a:off x="502920" y="365760"/>
            <a:ext cx="548640" cy="54864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9</a:t>
            </a:r>
            <a:endParaRPr lang="en-US" sz="1800" dirty="0"/>
          </a:p>
        </p:txBody>
      </p:sp>
      <p:sp>
        <p:nvSpPr>
          <p:cNvPr id="4" name="Text 2"/>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12263F"/>
                </a:solidFill>
                <a:latin typeface="Cambria" pitchFamily="34" charset="0"/>
                <a:ea typeface="Cambria" pitchFamily="34" charset="-122"/>
                <a:cs typeface="Cambria" pitchFamily="34" charset="-120"/>
              </a:rPr>
              <a:t>Summary</a:t>
            </a:r>
            <a:endParaRPr lang="en-US" sz="3000" dirty="0"/>
          </a:p>
        </p:txBody>
      </p:sp>
      <p:sp>
        <p:nvSpPr>
          <p:cNvPr id="5" name="Text 3"/>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5A6B7C"/>
                </a:solidFill>
                <a:latin typeface="Calibri" pitchFamily="34" charset="0"/>
                <a:ea typeface="Calibri" pitchFamily="34" charset="-122"/>
                <a:cs typeface="Calibri" pitchFamily="34" charset="-120"/>
              </a:rPr>
              <a:t>The three things worth remembering</a:t>
            </a:r>
            <a:endParaRPr lang="en-US" sz="1350" dirty="0"/>
          </a:p>
        </p:txBody>
      </p:sp>
      <p:sp>
        <p:nvSpPr>
          <p:cNvPr id="6" name="Shape 4"/>
          <p:cNvSpPr/>
          <p:nvPr/>
        </p:nvSpPr>
        <p:spPr>
          <a:xfrm>
            <a:off x="502920" y="1316736"/>
            <a:ext cx="3593592" cy="4041648"/>
          </a:xfrm>
          <a:prstGeom prst="roundRect">
            <a:avLst>
              <a:gd name="adj" fmla="val 1527"/>
            </a:avLst>
          </a:prstGeom>
          <a:solidFill>
            <a:srgbClr val="F1F4F6"/>
          </a:solidFill>
          <a:ln w="12700">
            <a:solidFill>
              <a:srgbClr val="E8EDF1"/>
            </a:solidFill>
            <a:prstDash val="solid"/>
          </a:ln>
        </p:spPr>
      </p:sp>
      <p:sp>
        <p:nvSpPr>
          <p:cNvPr id="7" name="Shape 5"/>
          <p:cNvSpPr/>
          <p:nvPr/>
        </p:nvSpPr>
        <p:spPr>
          <a:xfrm>
            <a:off x="758952" y="1536192"/>
            <a:ext cx="438912" cy="438912"/>
          </a:xfrm>
          <a:prstGeom prst="ellipse">
            <a:avLst/>
          </a:prstGeom>
          <a:solidFill>
            <a:srgbClr val="01697C"/>
          </a:solidFill>
          <a:ln/>
        </p:spPr>
      </p:sp>
      <p:sp>
        <p:nvSpPr>
          <p:cNvPr id="8" name="Text 6"/>
          <p:cNvSpPr/>
          <p:nvPr/>
        </p:nvSpPr>
        <p:spPr>
          <a:xfrm>
            <a:off x="758952" y="1536192"/>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1325880" y="1536192"/>
            <a:ext cx="2606040" cy="438912"/>
          </a:xfrm>
          <a:prstGeom prst="rect">
            <a:avLst/>
          </a:prstGeom>
          <a:noFill/>
          <a:ln/>
        </p:spPr>
        <p:txBody>
          <a:bodyPr wrap="square" lIns="0" tIns="0" rIns="0" bIns="0" rtlCol="0" anchor="ctr"/>
          <a:lstStyle/>
          <a:p>
            <a:pPr indent="0" marL="0">
              <a:buNone/>
            </a:pPr>
            <a:r>
              <a:rPr lang="en-US" sz="1500" b="1" dirty="0">
                <a:solidFill>
                  <a:srgbClr val="12263F"/>
                </a:solidFill>
                <a:latin typeface="Cambria" pitchFamily="34" charset="0"/>
                <a:ea typeface="Cambria" pitchFamily="34" charset="-122"/>
                <a:cs typeface="Cambria" pitchFamily="34" charset="-120"/>
              </a:rPr>
              <a:t>Can we trust the data?</a:t>
            </a:r>
            <a:endParaRPr lang="en-US" sz="1500" dirty="0"/>
          </a:p>
        </p:txBody>
      </p:sp>
      <p:sp>
        <p:nvSpPr>
          <p:cNvPr id="10" name="Text 8"/>
          <p:cNvSpPr/>
          <p:nvPr/>
        </p:nvSpPr>
        <p:spPr>
          <a:xfrm>
            <a:off x="758952" y="2121408"/>
            <a:ext cx="3081528" cy="384048"/>
          </a:xfrm>
          <a:prstGeom prst="rect">
            <a:avLst/>
          </a:prstGeom>
          <a:noFill/>
          <a:ln/>
        </p:spPr>
        <p:txBody>
          <a:bodyPr wrap="square" lIns="0" tIns="0" rIns="0" bIns="0" rtlCol="0" anchor="ctr"/>
          <a:lstStyle/>
          <a:p>
            <a:pPr indent="0" marL="0">
              <a:buNone/>
            </a:pPr>
            <a:r>
              <a:rPr lang="en-US" sz="1600" b="1" dirty="0">
                <a:solidFill>
                  <a:srgbClr val="01697C"/>
                </a:solidFill>
                <a:latin typeface="Calibri" pitchFamily="34" charset="0"/>
                <a:ea typeface="Calibri" pitchFamily="34" charset="-122"/>
                <a:cs typeface="Calibri" pitchFamily="34" charset="-120"/>
              </a:rPr>
              <a:t>Yes.</a:t>
            </a:r>
            <a:endParaRPr lang="en-US" sz="1600" dirty="0"/>
          </a:p>
        </p:txBody>
      </p:sp>
      <p:sp>
        <p:nvSpPr>
          <p:cNvPr id="11" name="Text 9"/>
          <p:cNvSpPr/>
          <p:nvPr/>
        </p:nvSpPr>
        <p:spPr>
          <a:xfrm>
            <a:off x="758952" y="2596896"/>
            <a:ext cx="3081528" cy="2606040"/>
          </a:xfrm>
          <a:prstGeom prst="rect">
            <a:avLst/>
          </a:prstGeom>
          <a:noFill/>
          <a:ln/>
        </p:spPr>
        <p:txBody>
          <a:bodyPr wrap="square" lIns="0" tIns="0" rIns="0" bIns="0" rtlCol="0" anchor="ctr"/>
          <a:lstStyle/>
          <a:p>
            <a:pPr indent="0" marL="0">
              <a:lnSpc>
                <a:spcPts val="1600"/>
              </a:lnSpc>
              <a:buNone/>
            </a:pPr>
            <a:r>
              <a:rPr lang="en-US" sz="1200" dirty="0">
                <a:solidFill>
                  <a:srgbClr val="3D4F60"/>
                </a:solidFill>
                <a:latin typeface="Calibri" pitchFamily="34" charset="0"/>
                <a:ea typeface="Calibri" pitchFamily="34" charset="-122"/>
                <a:cs typeface="Calibri" pitchFamily="34" charset="-120"/>
              </a:rPr>
              <a:t>614 completed applications, no duplicates, and no invented figures. Seven details had gaps — credit history was blank on 50 files (8.1%), self-employment on 32, loan amount on 22. Where a detail was missing we left that application out of that comparison rather than guessing. The findings rest on real records only.</a:t>
            </a:r>
            <a:endParaRPr lang="en-US" sz="1200" dirty="0"/>
          </a:p>
        </p:txBody>
      </p:sp>
      <p:sp>
        <p:nvSpPr>
          <p:cNvPr id="12" name="Shape 10"/>
          <p:cNvSpPr/>
          <p:nvPr/>
        </p:nvSpPr>
        <p:spPr>
          <a:xfrm>
            <a:off x="4297680" y="1316736"/>
            <a:ext cx="3593592" cy="4041648"/>
          </a:xfrm>
          <a:prstGeom prst="roundRect">
            <a:avLst>
              <a:gd name="adj" fmla="val 1527"/>
            </a:avLst>
          </a:prstGeom>
          <a:solidFill>
            <a:srgbClr val="F1F4F6"/>
          </a:solidFill>
          <a:ln w="12700">
            <a:solidFill>
              <a:srgbClr val="E8EDF1"/>
            </a:solidFill>
            <a:prstDash val="solid"/>
          </a:ln>
        </p:spPr>
      </p:sp>
      <p:sp>
        <p:nvSpPr>
          <p:cNvPr id="13" name="Shape 11"/>
          <p:cNvSpPr/>
          <p:nvPr/>
        </p:nvSpPr>
        <p:spPr>
          <a:xfrm>
            <a:off x="4553712" y="1536192"/>
            <a:ext cx="438912" cy="438912"/>
          </a:xfrm>
          <a:prstGeom prst="ellipse">
            <a:avLst/>
          </a:prstGeom>
          <a:solidFill>
            <a:srgbClr val="E8A33D"/>
          </a:solidFill>
          <a:ln/>
        </p:spPr>
      </p:sp>
      <p:sp>
        <p:nvSpPr>
          <p:cNvPr id="14" name="Text 12"/>
          <p:cNvSpPr/>
          <p:nvPr/>
        </p:nvSpPr>
        <p:spPr>
          <a:xfrm>
            <a:off x="4553712" y="1536192"/>
            <a:ext cx="438912" cy="438912"/>
          </a:xfrm>
          <a:prstGeom prst="rect">
            <a:avLst/>
          </a:prstGeom>
          <a:noFill/>
          <a:ln/>
        </p:spPr>
        <p:txBody>
          <a:bodyPr wrap="square" rtlCol="0" anchor="ctr"/>
          <a:lstStyle/>
          <a:p>
            <a:pPr algn="ctr" indent="0" marL="0">
              <a:buNone/>
            </a:pPr>
            <a:r>
              <a:rPr lang="en-US" sz="1400" b="1" dirty="0">
                <a:solidFill>
                  <a:srgbClr val="12263F"/>
                </a:solidFill>
                <a:latin typeface="Cambria" pitchFamily="34" charset="0"/>
                <a:ea typeface="Cambria" pitchFamily="34" charset="-122"/>
                <a:cs typeface="Cambria" pitchFamily="34" charset="-120"/>
              </a:rPr>
              <a:t>2</a:t>
            </a:r>
            <a:endParaRPr lang="en-US" sz="1400" dirty="0"/>
          </a:p>
        </p:txBody>
      </p:sp>
      <p:sp>
        <p:nvSpPr>
          <p:cNvPr id="15" name="Text 13"/>
          <p:cNvSpPr/>
          <p:nvPr/>
        </p:nvSpPr>
        <p:spPr>
          <a:xfrm>
            <a:off x="5120640" y="1536192"/>
            <a:ext cx="2606040" cy="438912"/>
          </a:xfrm>
          <a:prstGeom prst="rect">
            <a:avLst/>
          </a:prstGeom>
          <a:noFill/>
          <a:ln/>
        </p:spPr>
        <p:txBody>
          <a:bodyPr wrap="square" lIns="0" tIns="0" rIns="0" bIns="0" rtlCol="0" anchor="ctr"/>
          <a:lstStyle/>
          <a:p>
            <a:pPr indent="0" marL="0">
              <a:buNone/>
            </a:pPr>
            <a:r>
              <a:rPr lang="en-US" sz="1500" b="1" dirty="0">
                <a:solidFill>
                  <a:srgbClr val="12263F"/>
                </a:solidFill>
                <a:latin typeface="Cambria" pitchFamily="34" charset="0"/>
                <a:ea typeface="Cambria" pitchFamily="34" charset="-122"/>
                <a:cs typeface="Cambria" pitchFamily="34" charset="-120"/>
              </a:rPr>
              <a:t>What surprised us?</a:t>
            </a:r>
            <a:endParaRPr lang="en-US" sz="1500" dirty="0"/>
          </a:p>
        </p:txBody>
      </p:sp>
      <p:sp>
        <p:nvSpPr>
          <p:cNvPr id="16" name="Text 14"/>
          <p:cNvSpPr/>
          <p:nvPr/>
        </p:nvSpPr>
        <p:spPr>
          <a:xfrm>
            <a:off x="4553712" y="2121408"/>
            <a:ext cx="3081528" cy="384048"/>
          </a:xfrm>
          <a:prstGeom prst="rect">
            <a:avLst/>
          </a:prstGeom>
          <a:noFill/>
          <a:ln/>
        </p:spPr>
        <p:txBody>
          <a:bodyPr wrap="square" lIns="0" tIns="0" rIns="0" bIns="0" rtlCol="0" anchor="ctr"/>
          <a:lstStyle/>
          <a:p>
            <a:pPr indent="0" marL="0">
              <a:buNone/>
            </a:pPr>
            <a:r>
              <a:rPr lang="en-US" sz="1600" b="1" dirty="0">
                <a:solidFill>
                  <a:srgbClr val="E8A33D"/>
                </a:solidFill>
                <a:latin typeface="Calibri" pitchFamily="34" charset="0"/>
                <a:ea typeface="Calibri" pitchFamily="34" charset="-122"/>
                <a:cs typeface="Calibri" pitchFamily="34" charset="-120"/>
              </a:rPr>
              <a:t>Income barely matters.</a:t>
            </a:r>
            <a:endParaRPr lang="en-US" sz="1600" dirty="0"/>
          </a:p>
        </p:txBody>
      </p:sp>
      <p:sp>
        <p:nvSpPr>
          <p:cNvPr id="17" name="Text 15"/>
          <p:cNvSpPr/>
          <p:nvPr/>
        </p:nvSpPr>
        <p:spPr>
          <a:xfrm>
            <a:off x="4553712" y="2596896"/>
            <a:ext cx="3081528" cy="2606040"/>
          </a:xfrm>
          <a:prstGeom prst="rect">
            <a:avLst/>
          </a:prstGeom>
          <a:noFill/>
          <a:ln/>
        </p:spPr>
        <p:txBody>
          <a:bodyPr wrap="square" lIns="0" tIns="0" rIns="0" bIns="0" rtlCol="0" anchor="ctr"/>
          <a:lstStyle/>
          <a:p>
            <a:pPr indent="0" marL="0">
              <a:lnSpc>
                <a:spcPts val="1600"/>
              </a:lnSpc>
              <a:buNone/>
            </a:pPr>
            <a:r>
              <a:rPr lang="en-US" sz="1200" dirty="0">
                <a:solidFill>
                  <a:srgbClr val="3D4F60"/>
                </a:solidFill>
                <a:latin typeface="Calibri" pitchFamily="34" charset="0"/>
                <a:ea typeface="Calibri" pitchFamily="34" charset="-122"/>
                <a:cs typeface="Calibri" pitchFamily="34" charset="-120"/>
              </a:rPr>
              <a:t>Approved and rejected applicants earn almost exactly the same (3,812 vs 3,833). We also found the average income is misleading: a few very high earners lift it to 5,403, while the typical applicant earns 3,812. Every income figure in this review is therefore the typical figure, not the average.</a:t>
            </a:r>
            <a:endParaRPr lang="en-US" sz="1200" dirty="0"/>
          </a:p>
        </p:txBody>
      </p:sp>
      <p:sp>
        <p:nvSpPr>
          <p:cNvPr id="18" name="Shape 16"/>
          <p:cNvSpPr/>
          <p:nvPr/>
        </p:nvSpPr>
        <p:spPr>
          <a:xfrm>
            <a:off x="8092440" y="1316736"/>
            <a:ext cx="3593592" cy="4041648"/>
          </a:xfrm>
          <a:prstGeom prst="roundRect">
            <a:avLst>
              <a:gd name="adj" fmla="val 1527"/>
            </a:avLst>
          </a:prstGeom>
          <a:solidFill>
            <a:srgbClr val="F1F4F6"/>
          </a:solidFill>
          <a:ln w="12700">
            <a:solidFill>
              <a:srgbClr val="E8EDF1"/>
            </a:solidFill>
            <a:prstDash val="solid"/>
          </a:ln>
        </p:spPr>
      </p:sp>
      <p:sp>
        <p:nvSpPr>
          <p:cNvPr id="19" name="Shape 17"/>
          <p:cNvSpPr/>
          <p:nvPr/>
        </p:nvSpPr>
        <p:spPr>
          <a:xfrm>
            <a:off x="8348472" y="1536192"/>
            <a:ext cx="438912" cy="438912"/>
          </a:xfrm>
          <a:prstGeom prst="ellipse">
            <a:avLst/>
          </a:prstGeom>
          <a:solidFill>
            <a:srgbClr val="2E7D5B"/>
          </a:solidFill>
          <a:ln/>
        </p:spPr>
      </p:sp>
      <p:sp>
        <p:nvSpPr>
          <p:cNvPr id="20" name="Text 18"/>
          <p:cNvSpPr/>
          <p:nvPr/>
        </p:nvSpPr>
        <p:spPr>
          <a:xfrm>
            <a:off x="8348472" y="1536192"/>
            <a:ext cx="438912" cy="438912"/>
          </a:xfrm>
          <a:prstGeom prst="rect">
            <a:avLst/>
          </a:prstGeom>
          <a:noFill/>
          <a:ln/>
        </p:spPr>
        <p:txBody>
          <a:bodyPr wrap="square"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1" name="Text 19"/>
          <p:cNvSpPr/>
          <p:nvPr/>
        </p:nvSpPr>
        <p:spPr>
          <a:xfrm>
            <a:off x="8915400" y="1536192"/>
            <a:ext cx="2606040" cy="438912"/>
          </a:xfrm>
          <a:prstGeom prst="rect">
            <a:avLst/>
          </a:prstGeom>
          <a:noFill/>
          <a:ln/>
        </p:spPr>
        <p:txBody>
          <a:bodyPr wrap="square" lIns="0" tIns="0" rIns="0" bIns="0" rtlCol="0" anchor="ctr"/>
          <a:lstStyle/>
          <a:p>
            <a:pPr indent="0" marL="0">
              <a:buNone/>
            </a:pPr>
            <a:r>
              <a:rPr lang="en-US" sz="1500" b="1" dirty="0">
                <a:solidFill>
                  <a:srgbClr val="12263F"/>
                </a:solidFill>
                <a:latin typeface="Cambria" pitchFamily="34" charset="0"/>
                <a:ea typeface="Cambria" pitchFamily="34" charset="-122"/>
                <a:cs typeface="Cambria" pitchFamily="34" charset="-120"/>
              </a:rPr>
              <a:t>What should we act on?</a:t>
            </a:r>
            <a:endParaRPr lang="en-US" sz="1500" dirty="0"/>
          </a:p>
        </p:txBody>
      </p:sp>
      <p:sp>
        <p:nvSpPr>
          <p:cNvPr id="22" name="Text 20"/>
          <p:cNvSpPr/>
          <p:nvPr/>
        </p:nvSpPr>
        <p:spPr>
          <a:xfrm>
            <a:off x="8348472" y="2121408"/>
            <a:ext cx="3081528" cy="384048"/>
          </a:xfrm>
          <a:prstGeom prst="rect">
            <a:avLst/>
          </a:prstGeom>
          <a:noFill/>
          <a:ln/>
        </p:spPr>
        <p:txBody>
          <a:bodyPr wrap="square" lIns="0" tIns="0" rIns="0" bIns="0" rtlCol="0" anchor="ctr"/>
          <a:lstStyle/>
          <a:p>
            <a:pPr indent="0" marL="0">
              <a:buNone/>
            </a:pPr>
            <a:r>
              <a:rPr lang="en-US" sz="1600" b="1" dirty="0">
                <a:solidFill>
                  <a:srgbClr val="2E7D5B"/>
                </a:solidFill>
                <a:latin typeface="Calibri" pitchFamily="34" charset="0"/>
                <a:ea typeface="Calibri" pitchFamily="34" charset="-122"/>
                <a:cs typeface="Calibri" pitchFamily="34" charset="-120"/>
              </a:rPr>
              <a:t>Credit history.</a:t>
            </a:r>
            <a:endParaRPr lang="en-US" sz="1600" dirty="0"/>
          </a:p>
        </p:txBody>
      </p:sp>
      <p:sp>
        <p:nvSpPr>
          <p:cNvPr id="23" name="Text 21"/>
          <p:cNvSpPr/>
          <p:nvPr/>
        </p:nvSpPr>
        <p:spPr>
          <a:xfrm>
            <a:off x="8348472" y="2596896"/>
            <a:ext cx="3081528" cy="2606040"/>
          </a:xfrm>
          <a:prstGeom prst="rect">
            <a:avLst/>
          </a:prstGeom>
          <a:noFill/>
          <a:ln/>
        </p:spPr>
        <p:txBody>
          <a:bodyPr wrap="square" lIns="0" tIns="0" rIns="0" bIns="0" rtlCol="0" anchor="ctr"/>
          <a:lstStyle/>
          <a:p>
            <a:pPr indent="0" marL="0">
              <a:lnSpc>
                <a:spcPts val="1600"/>
              </a:lnSpc>
              <a:buNone/>
            </a:pPr>
            <a:r>
              <a:rPr lang="en-US" sz="1200" dirty="0">
                <a:solidFill>
                  <a:srgbClr val="3D4F60"/>
                </a:solidFill>
                <a:latin typeface="Calibri" pitchFamily="34" charset="0"/>
                <a:ea typeface="Calibri" pitchFamily="34" charset="-122"/>
                <a:cs typeface="Calibri" pitchFamily="34" charset="-120"/>
              </a:rPr>
              <a:t>It is by far the strongest signal we found. Applicants with a clean record are approved 79.6% of the time; those without, 7.9% — ten times more likely. Education and property area do make a small difference, but nowhere near enough to base a decision on.</a:t>
            </a:r>
            <a:endParaRPr lang="en-US" sz="1200" dirty="0"/>
          </a:p>
        </p:txBody>
      </p:sp>
      <p:sp>
        <p:nvSpPr>
          <p:cNvPr id="24" name="Shape 22"/>
          <p:cNvSpPr/>
          <p:nvPr/>
        </p:nvSpPr>
        <p:spPr>
          <a:xfrm>
            <a:off x="502920" y="5650992"/>
            <a:ext cx="11155680" cy="749808"/>
          </a:xfrm>
          <a:prstGeom prst="roundRect">
            <a:avLst>
              <a:gd name="adj" fmla="val 9756"/>
            </a:avLst>
          </a:prstGeom>
          <a:solidFill>
            <a:srgbClr val="FDF3E0"/>
          </a:solidFill>
          <a:ln w="15875">
            <a:solidFill>
              <a:srgbClr val="E8A33D"/>
            </a:solidFill>
            <a:prstDash val="solid"/>
          </a:ln>
        </p:spPr>
      </p:sp>
      <p:sp>
        <p:nvSpPr>
          <p:cNvPr id="25" name="Text 23"/>
          <p:cNvSpPr/>
          <p:nvPr/>
        </p:nvSpPr>
        <p:spPr>
          <a:xfrm>
            <a:off x="731520" y="5705856"/>
            <a:ext cx="1024128" cy="640080"/>
          </a:xfrm>
          <a:prstGeom prst="rect">
            <a:avLst/>
          </a:prstGeom>
          <a:noFill/>
          <a:ln/>
        </p:spPr>
        <p:txBody>
          <a:bodyPr wrap="square" lIns="0" tIns="0" rIns="0" bIns="0" rtlCol="0" anchor="ctr"/>
          <a:lstStyle/>
          <a:p>
            <a:pPr indent="0" marL="0">
              <a:buNone/>
            </a:pPr>
            <a:r>
              <a:rPr lang="en-US" sz="1000" b="1" spc="80" kern="0" dirty="0">
                <a:solidFill>
                  <a:srgbClr val="12263F"/>
                </a:solidFill>
                <a:latin typeface="Calibri" pitchFamily="34" charset="0"/>
                <a:ea typeface="Calibri" pitchFamily="34" charset="-122"/>
                <a:cs typeface="Calibri" pitchFamily="34" charset="-120"/>
              </a:rPr>
              <a:t>SUMMARY</a:t>
            </a:r>
            <a:endParaRPr lang="en-US" sz="1000" dirty="0"/>
          </a:p>
        </p:txBody>
      </p:sp>
      <p:sp>
        <p:nvSpPr>
          <p:cNvPr id="26" name="Text 24"/>
          <p:cNvSpPr/>
          <p:nvPr/>
        </p:nvSpPr>
        <p:spPr>
          <a:xfrm>
            <a:off x="1828800" y="5705856"/>
            <a:ext cx="9646920" cy="640080"/>
          </a:xfrm>
          <a:prstGeom prst="rect">
            <a:avLst/>
          </a:prstGeom>
          <a:noFill/>
          <a:ln/>
        </p:spPr>
        <p:txBody>
          <a:bodyPr wrap="square" lIns="0" tIns="0" rIns="0" bIns="0" rtlCol="0" anchor="ctr"/>
          <a:lstStyle/>
          <a:p>
            <a:pPr indent="0" marL="0">
              <a:buNone/>
            </a:pPr>
            <a:r>
              <a:rPr lang="en-US" sz="1300" dirty="0">
                <a:solidFill>
                  <a:srgbClr val="3D4F60"/>
                </a:solidFill>
                <a:latin typeface="Calibri" pitchFamily="34" charset="0"/>
                <a:ea typeface="Calibri" pitchFamily="34" charset="-122"/>
                <a:cs typeface="Calibri" pitchFamily="34" charset="-120"/>
              </a:rPr>
              <a:t>Of everything we measured — income, education, location, marital status, employment — only credit history meaningfully separates an approval from a rejection.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263F"/>
        </a:solidFill>
      </p:bgPr>
    </p:bg>
    <p:spTree>
      <p:nvGrpSpPr>
        <p:cNvPr id="1" name=""/>
        <p:cNvGrpSpPr/>
        <p:nvPr/>
      </p:nvGrpSpPr>
      <p:grpSpPr>
        <a:xfrm>
          <a:off x="0" y="0"/>
          <a:ext cx="0" cy="0"/>
          <a:chOff x="0" y="0"/>
          <a:chExt cx="0" cy="0"/>
        </a:xfrm>
      </p:grpSpPr>
      <p:sp>
        <p:nvSpPr>
          <p:cNvPr id="2" name="Shape 0"/>
          <p:cNvSpPr/>
          <p:nvPr/>
        </p:nvSpPr>
        <p:spPr>
          <a:xfrm>
            <a:off x="10241280" y="-1097280"/>
            <a:ext cx="4023360" cy="4023360"/>
          </a:xfrm>
          <a:prstGeom prst="ellipse">
            <a:avLst/>
          </a:prstGeom>
          <a:solidFill>
            <a:srgbClr val="01697C">
              <a:alpha val="28000"/>
            </a:srgbClr>
          </a:solidFill>
          <a:ln/>
        </p:spPr>
      </p:sp>
      <p:sp>
        <p:nvSpPr>
          <p:cNvPr id="3" name="Shape 1"/>
          <p:cNvSpPr/>
          <p:nvPr/>
        </p:nvSpPr>
        <p:spPr>
          <a:xfrm>
            <a:off x="502920" y="365760"/>
            <a:ext cx="548640" cy="548640"/>
          </a:xfrm>
          <a:prstGeom prst="ellipse">
            <a:avLst/>
          </a:prstGeom>
          <a:solidFill>
            <a:srgbClr val="E8A33D"/>
          </a:solidFill>
          <a:ln/>
        </p:spPr>
      </p:sp>
      <p:sp>
        <p:nvSpPr>
          <p:cNvPr id="4" name="Text 2"/>
          <p:cNvSpPr/>
          <p:nvPr/>
        </p:nvSpPr>
        <p:spPr>
          <a:xfrm>
            <a:off x="502920" y="365760"/>
            <a:ext cx="548640" cy="548640"/>
          </a:xfrm>
          <a:prstGeom prst="rect">
            <a:avLst/>
          </a:prstGeom>
          <a:noFill/>
          <a:ln/>
        </p:spPr>
        <p:txBody>
          <a:bodyPr wrap="square" rtlCol="0" anchor="ctr"/>
          <a:lstStyle/>
          <a:p>
            <a:pPr algn="ctr" indent="0" marL="0">
              <a:buNone/>
            </a:pPr>
            <a:r>
              <a:rPr lang="en-US" sz="1600" b="1" dirty="0">
                <a:solidFill>
                  <a:srgbClr val="12263F"/>
                </a:solidFill>
                <a:latin typeface="Cambria" pitchFamily="34" charset="0"/>
                <a:ea typeface="Cambria" pitchFamily="34" charset="-122"/>
                <a:cs typeface="Cambria" pitchFamily="34" charset="-120"/>
              </a:rPr>
              <a:t>10</a:t>
            </a:r>
            <a:endParaRPr lang="en-US" sz="1600" dirty="0"/>
          </a:p>
        </p:txBody>
      </p:sp>
      <p:sp>
        <p:nvSpPr>
          <p:cNvPr id="5" name="Text 3"/>
          <p:cNvSpPr/>
          <p:nvPr/>
        </p:nvSpPr>
        <p:spPr>
          <a:xfrm>
            <a:off x="1207008" y="329184"/>
            <a:ext cx="10424160" cy="438912"/>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Recommendations</a:t>
            </a:r>
            <a:endParaRPr lang="en-US" sz="3000" dirty="0"/>
          </a:p>
        </p:txBody>
      </p:sp>
      <p:sp>
        <p:nvSpPr>
          <p:cNvPr id="6" name="Text 4"/>
          <p:cNvSpPr/>
          <p:nvPr/>
        </p:nvSpPr>
        <p:spPr>
          <a:xfrm>
            <a:off x="1207008" y="786384"/>
            <a:ext cx="10424160" cy="292608"/>
          </a:xfrm>
          <a:prstGeom prst="rect">
            <a:avLst/>
          </a:prstGeom>
          <a:noFill/>
          <a:ln/>
        </p:spPr>
        <p:txBody>
          <a:bodyPr wrap="square" lIns="0" tIns="0" rIns="0" bIns="0" rtlCol="0" anchor="ctr"/>
          <a:lstStyle/>
          <a:p>
            <a:pPr indent="0" marL="0">
              <a:buNone/>
            </a:pPr>
            <a:r>
              <a:rPr lang="en-US" sz="1350" dirty="0">
                <a:solidFill>
                  <a:srgbClr val="9DB3C4"/>
                </a:solidFill>
                <a:latin typeface="Calibri" pitchFamily="34" charset="0"/>
                <a:ea typeface="Calibri" pitchFamily="34" charset="-122"/>
                <a:cs typeface="Calibri" pitchFamily="34" charset="-120"/>
              </a:rPr>
              <a:t>In priority order</a:t>
            </a:r>
            <a:endParaRPr lang="en-US" sz="1350" dirty="0"/>
          </a:p>
        </p:txBody>
      </p:sp>
      <p:sp>
        <p:nvSpPr>
          <p:cNvPr id="7" name="Shape 5"/>
          <p:cNvSpPr/>
          <p:nvPr/>
        </p:nvSpPr>
        <p:spPr>
          <a:xfrm>
            <a:off x="566928" y="1572768"/>
            <a:ext cx="402336" cy="402336"/>
          </a:xfrm>
          <a:prstGeom prst="ellipse">
            <a:avLst/>
          </a:prstGeom>
          <a:solidFill>
            <a:srgbClr val="E8A33D"/>
          </a:solidFill>
          <a:ln/>
        </p:spPr>
      </p:sp>
      <p:sp>
        <p:nvSpPr>
          <p:cNvPr id="8" name="Text 6"/>
          <p:cNvSpPr/>
          <p:nvPr/>
        </p:nvSpPr>
        <p:spPr>
          <a:xfrm>
            <a:off x="566928" y="1572768"/>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1</a:t>
            </a:r>
            <a:endParaRPr lang="en-US" sz="1300" dirty="0"/>
          </a:p>
        </p:txBody>
      </p:sp>
      <p:sp>
        <p:nvSpPr>
          <p:cNvPr id="9" name="Text 7"/>
          <p:cNvSpPr/>
          <p:nvPr/>
        </p:nvSpPr>
        <p:spPr>
          <a:xfrm>
            <a:off x="1133856" y="1408176"/>
            <a:ext cx="3931920" cy="420624"/>
          </a:xfrm>
          <a:prstGeom prst="rect">
            <a:avLst/>
          </a:prstGeom>
          <a:noFill/>
          <a:ln/>
        </p:spPr>
        <p:txBody>
          <a:bodyPr wrap="square" lIns="0" tIns="0" rIns="0" bIns="0" rtlCol="0" anchor="ctr"/>
          <a:lstStyle/>
          <a:p>
            <a:pPr indent="0" marL="0">
              <a:buNone/>
            </a:pPr>
            <a:r>
              <a:rPr lang="en-US" sz="1400" b="1" dirty="0">
                <a:solidFill>
                  <a:srgbClr val="E8A33D"/>
                </a:solidFill>
                <a:latin typeface="Calibri" pitchFamily="34" charset="0"/>
                <a:ea typeface="Calibri" pitchFamily="34" charset="-122"/>
                <a:cs typeface="Calibri" pitchFamily="34" charset="-120"/>
              </a:rPr>
              <a:t>Fast-track clean credit records</a:t>
            </a:r>
            <a:endParaRPr lang="en-US" sz="1400" dirty="0"/>
          </a:p>
        </p:txBody>
      </p:sp>
      <p:sp>
        <p:nvSpPr>
          <p:cNvPr id="10" name="Text 8"/>
          <p:cNvSpPr/>
          <p:nvPr/>
        </p:nvSpPr>
        <p:spPr>
          <a:xfrm>
            <a:off x="1133856" y="1828800"/>
            <a:ext cx="3931920" cy="256032"/>
          </a:xfrm>
          <a:prstGeom prst="rect">
            <a:avLst/>
          </a:prstGeom>
          <a:noFill/>
          <a:ln/>
        </p:spPr>
        <p:txBody>
          <a:bodyPr wrap="square" lIns="0" tIns="0" rIns="0" bIns="0" rtlCol="0" anchor="ctr"/>
          <a:lstStyle/>
          <a:p>
            <a:pPr indent="0" marL="0">
              <a:buNone/>
            </a:pPr>
            <a:r>
              <a:rPr lang="en-US" sz="900" b="1" spc="100" kern="0" dirty="0">
                <a:solidFill>
                  <a:srgbClr val="6B8298"/>
                </a:solidFill>
                <a:latin typeface="Calibri" pitchFamily="34" charset="0"/>
                <a:ea typeface="Calibri" pitchFamily="34" charset="-122"/>
                <a:cs typeface="Calibri" pitchFamily="34" charset="-120"/>
              </a:rPr>
              <a:t>DO THIS FIRST</a:t>
            </a:r>
            <a:endParaRPr lang="en-US" sz="900" dirty="0"/>
          </a:p>
        </p:txBody>
      </p:sp>
      <p:sp>
        <p:nvSpPr>
          <p:cNvPr id="11" name="Text 9"/>
          <p:cNvSpPr/>
          <p:nvPr/>
        </p:nvSpPr>
        <p:spPr>
          <a:xfrm>
            <a:off x="5257800" y="1389888"/>
            <a:ext cx="6400800" cy="749808"/>
          </a:xfrm>
          <a:prstGeom prst="rect">
            <a:avLst/>
          </a:prstGeom>
          <a:noFill/>
          <a:ln/>
        </p:spPr>
        <p:txBody>
          <a:bodyPr wrap="square" lIns="0" tIns="0" rIns="0" bIns="0" rtlCol="0" anchor="ctr"/>
          <a:lstStyle/>
          <a:p>
            <a:pPr indent="0" marL="0">
              <a:buNone/>
            </a:pPr>
            <a:r>
              <a:rPr lang="en-US" sz="1200" dirty="0">
                <a:solidFill>
                  <a:srgbClr val="B9C9D6"/>
                </a:solidFill>
                <a:latin typeface="Calibri" pitchFamily="34" charset="0"/>
                <a:ea typeface="Calibri" pitchFamily="34" charset="-122"/>
                <a:cs typeface="Calibri" pitchFamily="34" charset="-120"/>
              </a:rPr>
              <a:t>They are approved 79.6% of the time anyway. Route them to a quick lane and free your reviewers for the applications that actually need judgement.</a:t>
            </a:r>
            <a:endParaRPr lang="en-US" sz="1200" dirty="0"/>
          </a:p>
        </p:txBody>
      </p:sp>
      <p:sp>
        <p:nvSpPr>
          <p:cNvPr id="12" name="Shape 10"/>
          <p:cNvSpPr/>
          <p:nvPr/>
        </p:nvSpPr>
        <p:spPr>
          <a:xfrm>
            <a:off x="566928" y="2450592"/>
            <a:ext cx="402336" cy="402336"/>
          </a:xfrm>
          <a:prstGeom prst="ellipse">
            <a:avLst/>
          </a:prstGeom>
          <a:solidFill>
            <a:srgbClr val="C1453C"/>
          </a:solidFill>
          <a:ln/>
        </p:spPr>
      </p:sp>
      <p:sp>
        <p:nvSpPr>
          <p:cNvPr id="13" name="Text 11"/>
          <p:cNvSpPr/>
          <p:nvPr/>
        </p:nvSpPr>
        <p:spPr>
          <a:xfrm>
            <a:off x="566928" y="2450592"/>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2</a:t>
            </a:r>
            <a:endParaRPr lang="en-US" sz="1300" dirty="0"/>
          </a:p>
        </p:txBody>
      </p:sp>
      <p:sp>
        <p:nvSpPr>
          <p:cNvPr id="14" name="Text 12"/>
          <p:cNvSpPr/>
          <p:nvPr/>
        </p:nvSpPr>
        <p:spPr>
          <a:xfrm>
            <a:off x="1133856" y="2286000"/>
            <a:ext cx="3931920" cy="420624"/>
          </a:xfrm>
          <a:prstGeom prst="rect">
            <a:avLst/>
          </a:prstGeom>
          <a:noFill/>
          <a:ln/>
        </p:spPr>
        <p:txBody>
          <a:bodyPr wrap="square" lIns="0" tIns="0" rIns="0" bIns="0" rtlCol="0" anchor="ctr"/>
          <a:lstStyle/>
          <a:p>
            <a:pPr indent="0" marL="0">
              <a:buNone/>
            </a:pPr>
            <a:r>
              <a:rPr lang="en-US" sz="1400" b="1" dirty="0">
                <a:solidFill>
                  <a:srgbClr val="C1453C"/>
                </a:solidFill>
                <a:latin typeface="Calibri" pitchFamily="34" charset="0"/>
                <a:ea typeface="Calibri" pitchFamily="34" charset="-122"/>
                <a:cs typeface="Calibri" pitchFamily="34" charset="-120"/>
              </a:rPr>
              <a:t>Make credit history mandatory at intake</a:t>
            </a:r>
            <a:endParaRPr lang="en-US" sz="1400" dirty="0"/>
          </a:p>
        </p:txBody>
      </p:sp>
      <p:sp>
        <p:nvSpPr>
          <p:cNvPr id="15" name="Text 13"/>
          <p:cNvSpPr/>
          <p:nvPr/>
        </p:nvSpPr>
        <p:spPr>
          <a:xfrm>
            <a:off x="1133856" y="2706624"/>
            <a:ext cx="3931920" cy="256032"/>
          </a:xfrm>
          <a:prstGeom prst="rect">
            <a:avLst/>
          </a:prstGeom>
          <a:noFill/>
          <a:ln/>
        </p:spPr>
        <p:txBody>
          <a:bodyPr wrap="square" lIns="0" tIns="0" rIns="0" bIns="0" rtlCol="0" anchor="ctr"/>
          <a:lstStyle/>
          <a:p>
            <a:pPr indent="0" marL="0">
              <a:buNone/>
            </a:pPr>
            <a:r>
              <a:rPr lang="en-US" sz="900" b="1" spc="100" kern="0" dirty="0">
                <a:solidFill>
                  <a:srgbClr val="6B8298"/>
                </a:solidFill>
                <a:latin typeface="Calibri" pitchFamily="34" charset="0"/>
                <a:ea typeface="Calibri" pitchFamily="34" charset="-122"/>
                <a:cs typeface="Calibri" pitchFamily="34" charset="-120"/>
              </a:rPr>
              <a:t>DO THIS FIRST</a:t>
            </a:r>
            <a:endParaRPr lang="en-US" sz="900" dirty="0"/>
          </a:p>
        </p:txBody>
      </p:sp>
      <p:sp>
        <p:nvSpPr>
          <p:cNvPr id="16" name="Text 14"/>
          <p:cNvSpPr/>
          <p:nvPr/>
        </p:nvSpPr>
        <p:spPr>
          <a:xfrm>
            <a:off x="5257800" y="2267712"/>
            <a:ext cx="6400800" cy="749808"/>
          </a:xfrm>
          <a:prstGeom prst="rect">
            <a:avLst/>
          </a:prstGeom>
          <a:noFill/>
          <a:ln/>
        </p:spPr>
        <p:txBody>
          <a:bodyPr wrap="square" lIns="0" tIns="0" rIns="0" bIns="0" rtlCol="0" anchor="ctr"/>
          <a:lstStyle/>
          <a:p>
            <a:pPr indent="0" marL="0">
              <a:buNone/>
            </a:pPr>
            <a:r>
              <a:rPr lang="en-US" sz="1200" dirty="0">
                <a:solidFill>
                  <a:srgbClr val="B9C9D6"/>
                </a:solidFill>
                <a:latin typeface="Calibri" pitchFamily="34" charset="0"/>
                <a:ea typeface="Calibri" pitchFamily="34" charset="-122"/>
                <a:cs typeface="Calibri" pitchFamily="34" charset="-120"/>
              </a:rPr>
              <a:t>It is blank on 50 files — the one detail that decides the outcome, missing on 1 in 12 applications. Fix the form before automating anything.</a:t>
            </a:r>
            <a:endParaRPr lang="en-US" sz="1200" dirty="0"/>
          </a:p>
        </p:txBody>
      </p:sp>
      <p:sp>
        <p:nvSpPr>
          <p:cNvPr id="17" name="Shape 15"/>
          <p:cNvSpPr/>
          <p:nvPr/>
        </p:nvSpPr>
        <p:spPr>
          <a:xfrm>
            <a:off x="566928" y="3328416"/>
            <a:ext cx="402336" cy="402336"/>
          </a:xfrm>
          <a:prstGeom prst="ellipse">
            <a:avLst/>
          </a:prstGeom>
          <a:solidFill>
            <a:srgbClr val="58C0D6"/>
          </a:solidFill>
          <a:ln/>
        </p:spPr>
      </p:sp>
      <p:sp>
        <p:nvSpPr>
          <p:cNvPr id="18" name="Text 16"/>
          <p:cNvSpPr/>
          <p:nvPr/>
        </p:nvSpPr>
        <p:spPr>
          <a:xfrm>
            <a:off x="566928" y="3328416"/>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3</a:t>
            </a:r>
            <a:endParaRPr lang="en-US" sz="1300" dirty="0"/>
          </a:p>
        </p:txBody>
      </p:sp>
      <p:sp>
        <p:nvSpPr>
          <p:cNvPr id="19" name="Text 17"/>
          <p:cNvSpPr/>
          <p:nvPr/>
        </p:nvSpPr>
        <p:spPr>
          <a:xfrm>
            <a:off x="1133856" y="3163824"/>
            <a:ext cx="3931920" cy="420624"/>
          </a:xfrm>
          <a:prstGeom prst="rect">
            <a:avLst/>
          </a:prstGeom>
          <a:noFill/>
          <a:ln/>
        </p:spPr>
        <p:txBody>
          <a:bodyPr wrap="square" lIns="0" tIns="0" rIns="0" bIns="0" rtlCol="0" anchor="ctr"/>
          <a:lstStyle/>
          <a:p>
            <a:pPr indent="0" marL="0">
              <a:buNone/>
            </a:pPr>
            <a:r>
              <a:rPr lang="en-US" sz="1400" b="1" dirty="0">
                <a:solidFill>
                  <a:srgbClr val="58C0D6"/>
                </a:solidFill>
                <a:latin typeface="Calibri" pitchFamily="34" charset="0"/>
                <a:ea typeface="Calibri" pitchFamily="34" charset="-122"/>
                <a:cs typeface="Calibri" pitchFamily="34" charset="-120"/>
              </a:rPr>
              <a:t>Stop screening on income</a:t>
            </a:r>
            <a:endParaRPr lang="en-US" sz="1400" dirty="0"/>
          </a:p>
        </p:txBody>
      </p:sp>
      <p:sp>
        <p:nvSpPr>
          <p:cNvPr id="20" name="Text 18"/>
          <p:cNvSpPr/>
          <p:nvPr/>
        </p:nvSpPr>
        <p:spPr>
          <a:xfrm>
            <a:off x="1133856" y="3584448"/>
            <a:ext cx="3931920" cy="256032"/>
          </a:xfrm>
          <a:prstGeom prst="rect">
            <a:avLst/>
          </a:prstGeom>
          <a:noFill/>
          <a:ln/>
        </p:spPr>
        <p:txBody>
          <a:bodyPr wrap="square" lIns="0" tIns="0" rIns="0" bIns="0" rtlCol="0" anchor="ctr"/>
          <a:lstStyle/>
          <a:p>
            <a:pPr indent="0" marL="0">
              <a:buNone/>
            </a:pPr>
            <a:r>
              <a:rPr lang="en-US" sz="900" b="1" spc="100" kern="0" dirty="0">
                <a:solidFill>
                  <a:srgbClr val="6B8298"/>
                </a:solidFill>
                <a:latin typeface="Calibri" pitchFamily="34" charset="0"/>
                <a:ea typeface="Calibri" pitchFamily="34" charset="-122"/>
                <a:cs typeface="Calibri" pitchFamily="34" charset="-120"/>
              </a:rPr>
              <a:t>CHANGE OF PRACTICE</a:t>
            </a:r>
            <a:endParaRPr lang="en-US" sz="900" dirty="0"/>
          </a:p>
        </p:txBody>
      </p:sp>
      <p:sp>
        <p:nvSpPr>
          <p:cNvPr id="21" name="Text 19"/>
          <p:cNvSpPr/>
          <p:nvPr/>
        </p:nvSpPr>
        <p:spPr>
          <a:xfrm>
            <a:off x="5257800" y="3145536"/>
            <a:ext cx="6400800" cy="749808"/>
          </a:xfrm>
          <a:prstGeom prst="rect">
            <a:avLst/>
          </a:prstGeom>
          <a:noFill/>
          <a:ln/>
        </p:spPr>
        <p:txBody>
          <a:bodyPr wrap="square" lIns="0" tIns="0" rIns="0" bIns="0" rtlCol="0" anchor="ctr"/>
          <a:lstStyle/>
          <a:p>
            <a:pPr indent="0" marL="0">
              <a:buNone/>
            </a:pPr>
            <a:r>
              <a:rPr lang="en-US" sz="1200" dirty="0">
                <a:solidFill>
                  <a:srgbClr val="B9C9D6"/>
                </a:solidFill>
                <a:latin typeface="Calibri" pitchFamily="34" charset="0"/>
                <a:ea typeface="Calibri" pitchFamily="34" charset="-122"/>
                <a:cs typeface="Calibri" pitchFamily="34" charset="-120"/>
              </a:rPr>
              <a:t>Rejected applicants earn slightly more than approved ones. Use income to size the loan, never to filter the applicant.</a:t>
            </a:r>
            <a:endParaRPr lang="en-US" sz="1200" dirty="0"/>
          </a:p>
        </p:txBody>
      </p:sp>
      <p:sp>
        <p:nvSpPr>
          <p:cNvPr id="22" name="Shape 20"/>
          <p:cNvSpPr/>
          <p:nvPr/>
        </p:nvSpPr>
        <p:spPr>
          <a:xfrm>
            <a:off x="566928" y="4206240"/>
            <a:ext cx="402336" cy="402336"/>
          </a:xfrm>
          <a:prstGeom prst="ellipse">
            <a:avLst/>
          </a:prstGeom>
          <a:solidFill>
            <a:srgbClr val="58C0D6"/>
          </a:solidFill>
          <a:ln/>
        </p:spPr>
      </p:sp>
      <p:sp>
        <p:nvSpPr>
          <p:cNvPr id="23" name="Text 21"/>
          <p:cNvSpPr/>
          <p:nvPr/>
        </p:nvSpPr>
        <p:spPr>
          <a:xfrm>
            <a:off x="566928" y="4206240"/>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4</a:t>
            </a:r>
            <a:endParaRPr lang="en-US" sz="1300" dirty="0"/>
          </a:p>
        </p:txBody>
      </p:sp>
      <p:sp>
        <p:nvSpPr>
          <p:cNvPr id="24" name="Text 22"/>
          <p:cNvSpPr/>
          <p:nvPr/>
        </p:nvSpPr>
        <p:spPr>
          <a:xfrm>
            <a:off x="1133856" y="4041648"/>
            <a:ext cx="3931920" cy="420624"/>
          </a:xfrm>
          <a:prstGeom prst="rect">
            <a:avLst/>
          </a:prstGeom>
          <a:noFill/>
          <a:ln/>
        </p:spPr>
        <p:txBody>
          <a:bodyPr wrap="square" lIns="0" tIns="0" rIns="0" bIns="0" rtlCol="0" anchor="ctr"/>
          <a:lstStyle/>
          <a:p>
            <a:pPr indent="0" marL="0">
              <a:buNone/>
            </a:pPr>
            <a:r>
              <a:rPr lang="en-US" sz="1400" b="1" dirty="0">
                <a:solidFill>
                  <a:srgbClr val="58C0D6"/>
                </a:solidFill>
                <a:latin typeface="Calibri" pitchFamily="34" charset="0"/>
                <a:ea typeface="Calibri" pitchFamily="34" charset="-122"/>
                <a:cs typeface="Calibri" pitchFamily="34" charset="-120"/>
              </a:rPr>
              <a:t>Report typical figures, not averages</a:t>
            </a:r>
            <a:endParaRPr lang="en-US" sz="1400" dirty="0"/>
          </a:p>
        </p:txBody>
      </p:sp>
      <p:sp>
        <p:nvSpPr>
          <p:cNvPr id="25" name="Text 23"/>
          <p:cNvSpPr/>
          <p:nvPr/>
        </p:nvSpPr>
        <p:spPr>
          <a:xfrm>
            <a:off x="1133856" y="4462272"/>
            <a:ext cx="3931920" cy="256032"/>
          </a:xfrm>
          <a:prstGeom prst="rect">
            <a:avLst/>
          </a:prstGeom>
          <a:noFill/>
          <a:ln/>
        </p:spPr>
        <p:txBody>
          <a:bodyPr wrap="square" lIns="0" tIns="0" rIns="0" bIns="0" rtlCol="0" anchor="ctr"/>
          <a:lstStyle/>
          <a:p>
            <a:pPr indent="0" marL="0">
              <a:buNone/>
            </a:pPr>
            <a:r>
              <a:rPr lang="en-US" sz="900" b="1" spc="100" kern="0" dirty="0">
                <a:solidFill>
                  <a:srgbClr val="6B8298"/>
                </a:solidFill>
                <a:latin typeface="Calibri" pitchFamily="34" charset="0"/>
                <a:ea typeface="Calibri" pitchFamily="34" charset="-122"/>
                <a:cs typeface="Calibri" pitchFamily="34" charset="-120"/>
              </a:rPr>
              <a:t>CHANGE OF PRACTICE</a:t>
            </a:r>
            <a:endParaRPr lang="en-US" sz="900" dirty="0"/>
          </a:p>
        </p:txBody>
      </p:sp>
      <p:sp>
        <p:nvSpPr>
          <p:cNvPr id="26" name="Text 24"/>
          <p:cNvSpPr/>
          <p:nvPr/>
        </p:nvSpPr>
        <p:spPr>
          <a:xfrm>
            <a:off x="5257800" y="4023360"/>
            <a:ext cx="6400800" cy="749808"/>
          </a:xfrm>
          <a:prstGeom prst="rect">
            <a:avLst/>
          </a:prstGeom>
          <a:noFill/>
          <a:ln/>
        </p:spPr>
        <p:txBody>
          <a:bodyPr wrap="square" lIns="0" tIns="0" rIns="0" bIns="0" rtlCol="0" anchor="ctr"/>
          <a:lstStyle/>
          <a:p>
            <a:pPr indent="0" marL="0">
              <a:buNone/>
            </a:pPr>
            <a:r>
              <a:rPr lang="en-US" sz="1200" dirty="0">
                <a:solidFill>
                  <a:srgbClr val="B9C9D6"/>
                </a:solidFill>
                <a:latin typeface="Calibri" pitchFamily="34" charset="0"/>
                <a:ea typeface="Calibri" pitchFamily="34" charset="-122"/>
                <a:cs typeface="Calibri" pitchFamily="34" charset="-120"/>
              </a:rPr>
              <a:t>The average income overstates our typical applicant by 41%. Any threshold set on it is aimed at someone who does not exist.</a:t>
            </a:r>
            <a:endParaRPr lang="en-US" sz="1200" dirty="0"/>
          </a:p>
        </p:txBody>
      </p:sp>
      <p:sp>
        <p:nvSpPr>
          <p:cNvPr id="27" name="Shape 25"/>
          <p:cNvSpPr/>
          <p:nvPr/>
        </p:nvSpPr>
        <p:spPr>
          <a:xfrm>
            <a:off x="566928" y="5084064"/>
            <a:ext cx="402336" cy="402336"/>
          </a:xfrm>
          <a:prstGeom prst="ellipse">
            <a:avLst/>
          </a:prstGeom>
          <a:solidFill>
            <a:srgbClr val="9DB3C4"/>
          </a:solidFill>
          <a:ln/>
        </p:spPr>
      </p:sp>
      <p:sp>
        <p:nvSpPr>
          <p:cNvPr id="28" name="Text 26"/>
          <p:cNvSpPr/>
          <p:nvPr/>
        </p:nvSpPr>
        <p:spPr>
          <a:xfrm>
            <a:off x="566928" y="5084064"/>
            <a:ext cx="402336" cy="402336"/>
          </a:xfrm>
          <a:prstGeom prst="rect">
            <a:avLst/>
          </a:prstGeom>
          <a:noFill/>
          <a:ln/>
        </p:spPr>
        <p:txBody>
          <a:bodyPr wrap="square" rtlCol="0" anchor="ctr"/>
          <a:lstStyle/>
          <a:p>
            <a:pPr algn="ctr" indent="0" marL="0">
              <a:buNone/>
            </a:pPr>
            <a:r>
              <a:rPr lang="en-US" sz="1300" b="1" dirty="0">
                <a:solidFill>
                  <a:srgbClr val="12263F"/>
                </a:solidFill>
                <a:latin typeface="Cambria" pitchFamily="34" charset="0"/>
                <a:ea typeface="Cambria" pitchFamily="34" charset="-122"/>
                <a:cs typeface="Cambria" pitchFamily="34" charset="-120"/>
              </a:rPr>
              <a:t>5</a:t>
            </a:r>
            <a:endParaRPr lang="en-US" sz="1300" dirty="0"/>
          </a:p>
        </p:txBody>
      </p:sp>
      <p:sp>
        <p:nvSpPr>
          <p:cNvPr id="29" name="Text 27"/>
          <p:cNvSpPr/>
          <p:nvPr/>
        </p:nvSpPr>
        <p:spPr>
          <a:xfrm>
            <a:off x="1133856" y="4919472"/>
            <a:ext cx="3931920" cy="420624"/>
          </a:xfrm>
          <a:prstGeom prst="rect">
            <a:avLst/>
          </a:prstGeom>
          <a:noFill/>
          <a:ln/>
        </p:spPr>
        <p:txBody>
          <a:bodyPr wrap="square" lIns="0" tIns="0" rIns="0" bIns="0" rtlCol="0" anchor="ctr"/>
          <a:lstStyle/>
          <a:p>
            <a:pPr indent="0" marL="0">
              <a:buNone/>
            </a:pPr>
            <a:r>
              <a:rPr lang="en-US" sz="1400" b="1" dirty="0">
                <a:solidFill>
                  <a:srgbClr val="CADCFC"/>
                </a:solidFill>
                <a:latin typeface="Calibri" pitchFamily="34" charset="0"/>
                <a:ea typeface="Calibri" pitchFamily="34" charset="-122"/>
                <a:cs typeface="Calibri" pitchFamily="34" charset="-120"/>
              </a:rPr>
              <a:t>Watch the rural gap — don’t act on it yet</a:t>
            </a:r>
            <a:endParaRPr lang="en-US" sz="1400" dirty="0"/>
          </a:p>
        </p:txBody>
      </p:sp>
      <p:sp>
        <p:nvSpPr>
          <p:cNvPr id="30" name="Text 28"/>
          <p:cNvSpPr/>
          <p:nvPr/>
        </p:nvSpPr>
        <p:spPr>
          <a:xfrm>
            <a:off x="1133856" y="5340096"/>
            <a:ext cx="3931920" cy="256032"/>
          </a:xfrm>
          <a:prstGeom prst="rect">
            <a:avLst/>
          </a:prstGeom>
          <a:noFill/>
          <a:ln/>
        </p:spPr>
        <p:txBody>
          <a:bodyPr wrap="square" lIns="0" tIns="0" rIns="0" bIns="0" rtlCol="0" anchor="ctr"/>
          <a:lstStyle/>
          <a:p>
            <a:pPr indent="0" marL="0">
              <a:buNone/>
            </a:pPr>
            <a:r>
              <a:rPr lang="en-US" sz="900" b="1" spc="100" kern="0" dirty="0">
                <a:solidFill>
                  <a:srgbClr val="6B8298"/>
                </a:solidFill>
                <a:latin typeface="Calibri" pitchFamily="34" charset="0"/>
                <a:ea typeface="Calibri" pitchFamily="34" charset="-122"/>
                <a:cs typeface="Calibri" pitchFamily="34" charset="-120"/>
              </a:rPr>
              <a:t>MONITOR</a:t>
            </a:r>
            <a:endParaRPr lang="en-US" sz="900" dirty="0"/>
          </a:p>
        </p:txBody>
      </p:sp>
      <p:sp>
        <p:nvSpPr>
          <p:cNvPr id="31" name="Text 29"/>
          <p:cNvSpPr/>
          <p:nvPr/>
        </p:nvSpPr>
        <p:spPr>
          <a:xfrm>
            <a:off x="5257800" y="4901184"/>
            <a:ext cx="6400800" cy="749808"/>
          </a:xfrm>
          <a:prstGeom prst="rect">
            <a:avLst/>
          </a:prstGeom>
          <a:noFill/>
          <a:ln/>
        </p:spPr>
        <p:txBody>
          <a:bodyPr wrap="square" lIns="0" tIns="0" rIns="0" bIns="0" rtlCol="0" anchor="ctr"/>
          <a:lstStyle/>
          <a:p>
            <a:pPr indent="0" marL="0">
              <a:buNone/>
            </a:pPr>
            <a:r>
              <a:rPr lang="en-US" sz="1200" dirty="0">
                <a:solidFill>
                  <a:srgbClr val="B9C9D6"/>
                </a:solidFill>
                <a:latin typeface="Calibri" pitchFamily="34" charset="0"/>
                <a:ea typeface="Calibri" pitchFamily="34" charset="-122"/>
                <a:cs typeface="Calibri" pitchFamily="34" charset="-120"/>
              </a:rPr>
              <a:t>Rural applicants are approved 61.5% against 76.8% semiurban. Real, but small. Understand the cause before making it a rule.</a:t>
            </a:r>
            <a:endParaRPr lang="en-US" sz="1200" dirty="0"/>
          </a:p>
        </p:txBody>
      </p:sp>
      <p:sp>
        <p:nvSpPr>
          <p:cNvPr id="32" name="Text 30"/>
          <p:cNvSpPr/>
          <p:nvPr/>
        </p:nvSpPr>
        <p:spPr>
          <a:xfrm>
            <a:off x="566928" y="5989320"/>
            <a:ext cx="11064240" cy="274320"/>
          </a:xfrm>
          <a:prstGeom prst="rect">
            <a:avLst/>
          </a:prstGeom>
          <a:noFill/>
          <a:ln/>
        </p:spPr>
        <p:txBody>
          <a:bodyPr wrap="square" lIns="0" tIns="0" rIns="0" bIns="0" rtlCol="0" anchor="ctr"/>
          <a:lstStyle/>
          <a:p>
            <a:pPr indent="0" marL="0">
              <a:buNone/>
            </a:pPr>
            <a:r>
              <a:rPr lang="en-US" sz="1000" i="1" dirty="0">
                <a:solidFill>
                  <a:srgbClr val="6B8298"/>
                </a:solidFill>
                <a:latin typeface="Calibri" pitchFamily="34" charset="0"/>
                <a:ea typeface="Calibri" pitchFamily="34" charset="-122"/>
                <a:cs typeface="Calibri" pitchFamily="34" charset="-120"/>
              </a:rPr>
              <a:t>Based on 614 loan applications  ·  train.csv</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 Prediction Dataset — Exploratory Data Analysis</dc:title>
  <dc:subject>PptxGenJS Presentation</dc:subject>
  <dc:creator>EDA Project</dc:creator>
  <cp:lastModifiedBy>EDA Project</cp:lastModifiedBy>
  <cp:revision>1</cp:revision>
  <dcterms:created xsi:type="dcterms:W3CDTF">2026-07-15T17:16:58Z</dcterms:created>
  <dcterms:modified xsi:type="dcterms:W3CDTF">2026-07-15T17:16:58Z</dcterms:modified>
</cp:coreProperties>
</file>